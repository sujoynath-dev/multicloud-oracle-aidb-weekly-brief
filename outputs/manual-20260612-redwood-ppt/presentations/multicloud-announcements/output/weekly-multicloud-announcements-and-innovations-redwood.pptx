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cb81cd5394297" /><Relationship Type="http://schemas.openxmlformats.org/officeDocument/2006/relationships/extended-properties" Target="/docProps/app.xml" Id="Re44a7b4fbbd34bc1" /><Relationship Type="http://schemas.openxmlformats.org/officeDocument/2006/relationships/officeDocument" Target="/ppt/presentation.xml" Id="Rd0873ed4b47d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dc987b1f5d4f75"/>
  </p:sldMasterIdLst>
  <p:notesMasterIdLst>
    <p:notesMasterId xmlns:r="http://schemas.openxmlformats.org/officeDocument/2006/relationships" r:id="R400673c064854dff"/>
  </p:notesMasterIdLst>
  <p:sldIdLst>
    <p:sldId xmlns:r="http://schemas.openxmlformats.org/officeDocument/2006/relationships" id="256" r:id="R811b5788816c496f"/>
    <p:sldId xmlns:r="http://schemas.openxmlformats.org/officeDocument/2006/relationships" id="257" r:id="Rd05f21f7866644f1"/>
    <p:sldId xmlns:r="http://schemas.openxmlformats.org/officeDocument/2006/relationships" id="258" r:id="Rad94b8781df14bed"/>
    <p:sldId xmlns:r="http://schemas.openxmlformats.org/officeDocument/2006/relationships" id="259" r:id="R7faf8d04e6bd42ea"/>
    <p:sldId xmlns:r="http://schemas.openxmlformats.org/officeDocument/2006/relationships" id="260" r:id="R6cffea899d3c49c9"/>
    <p:sldId xmlns:r="http://schemas.openxmlformats.org/officeDocument/2006/relationships" id="261" r:id="R8f9d6303ec6a444d"/>
    <p:sldId xmlns:r="http://schemas.openxmlformats.org/officeDocument/2006/relationships" id="262" r:id="R3cd70a3d961d4e9e"/>
    <p:sldId xmlns:r="http://schemas.openxmlformats.org/officeDocument/2006/relationships" id="263" r:id="Ref3b419dffd843f9"/>
    <p:sldId xmlns:r="http://schemas.openxmlformats.org/officeDocument/2006/relationships" id="264" r:id="R17a51688070544d5"/>
    <p:sldId xmlns:r="http://schemas.openxmlformats.org/officeDocument/2006/relationships" id="265" r:id="R0b645c8a2dbb42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ad234857cd46f9" /><Relationship Type="http://schemas.openxmlformats.org/officeDocument/2006/relationships/slideMaster" Target="/ppt/slideMasters/slideMaster1.xml" Id="Rdfdc987b1f5d4f75" /><Relationship Type="http://schemas.openxmlformats.org/officeDocument/2006/relationships/notesMaster" Target="/ppt/notesMasters/notesMaster1.xml" Id="R400673c064854dff" /><Relationship Type="http://schemas.openxmlformats.org/officeDocument/2006/relationships/presProps" Target="/ppt/presProps.xml" Id="R1c6049c3323148cc" /><Relationship Type="http://schemas.openxmlformats.org/officeDocument/2006/relationships/viewProps" Target="/ppt/viewProps.xml" Id="R38603a88b134426c" /><Relationship Type="http://schemas.openxmlformats.org/officeDocument/2006/relationships/tableStyles" Target="/ppt/tableStyles.xml" Id="R49e6911e7f8c4b9d" /><Relationship Type="http://schemas.openxmlformats.org/officeDocument/2006/relationships/slide" Target="/ppt/slides/slide1.xml" Id="R811b5788816c496f" /><Relationship Type="http://schemas.openxmlformats.org/officeDocument/2006/relationships/slide" Target="/ppt/slides/slide2.xml" Id="Rd05f21f7866644f1" /><Relationship Type="http://schemas.openxmlformats.org/officeDocument/2006/relationships/slide" Target="/ppt/slides/slide3.xml" Id="Rad94b8781df14bed" /><Relationship Type="http://schemas.openxmlformats.org/officeDocument/2006/relationships/slide" Target="/ppt/slides/slide4.xml" Id="R7faf8d04e6bd42ea" /><Relationship Type="http://schemas.openxmlformats.org/officeDocument/2006/relationships/slide" Target="/ppt/slides/slide5.xml" Id="R6cffea899d3c49c9" /><Relationship Type="http://schemas.openxmlformats.org/officeDocument/2006/relationships/slide" Target="/ppt/slides/slide6.xml" Id="R8f9d6303ec6a444d" /><Relationship Type="http://schemas.openxmlformats.org/officeDocument/2006/relationships/slide" Target="/ppt/slides/slide7.xml" Id="R3cd70a3d961d4e9e" /><Relationship Type="http://schemas.openxmlformats.org/officeDocument/2006/relationships/slide" Target="/ppt/slides/slide8.xml" Id="Ref3b419dffd843f9" /><Relationship Type="http://schemas.openxmlformats.org/officeDocument/2006/relationships/slide" Target="/ppt/slides/slide9.xml" Id="R17a51688070544d5" /><Relationship Type="http://schemas.openxmlformats.org/officeDocument/2006/relationships/slide" Target="/ppt/slides/slide10.xml" Id="R0b645c8a2dbb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2e332cf8b2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9a891743740e5" /><Relationship Type="http://schemas.openxmlformats.org/officeDocument/2006/relationships/notesMaster" Target="/ppt/notesMasters/notesMaster1.xml" Id="R30cd8c1e44a146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1ab071c64e40bc" /><Relationship Type="http://schemas.openxmlformats.org/officeDocument/2006/relationships/notesMaster" Target="/ppt/notesMasters/notesMaster1.xml" Id="R75008b6ef98340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30ab153f74925" /><Relationship Type="http://schemas.openxmlformats.org/officeDocument/2006/relationships/notesMaster" Target="/ppt/notesMasters/notesMaster1.xml" Id="R497025959f6d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eee2fb06041b5" /><Relationship Type="http://schemas.openxmlformats.org/officeDocument/2006/relationships/notesMaster" Target="/ppt/notesMasters/notesMaster1.xml" Id="R002457db47e943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864275e244fc8" /><Relationship Type="http://schemas.openxmlformats.org/officeDocument/2006/relationships/notesMaster" Target="/ppt/notesMasters/notesMaster1.xml" Id="R64819502fc8b42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b25072665548f2" /><Relationship Type="http://schemas.openxmlformats.org/officeDocument/2006/relationships/notesMaster" Target="/ppt/notesMasters/notesMaster1.xml" Id="R6bb196baa94e40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ae0eec90d4da1" /><Relationship Type="http://schemas.openxmlformats.org/officeDocument/2006/relationships/notesMaster" Target="/ppt/notesMasters/notesMaster1.xml" Id="R4e2dbf53be6540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e12329c5df48ee" /><Relationship Type="http://schemas.openxmlformats.org/officeDocument/2006/relationships/notesMaster" Target="/ppt/notesMasters/notesMaster1.xml" Id="R6c2ef13af1da47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1b3be67f24577" /><Relationship Type="http://schemas.openxmlformats.org/officeDocument/2006/relationships/notesMaster" Target="/ppt/notesMasters/notesMaster1.xml" Id="R3e1308f856aa41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79b8b67cf543c6" /><Relationship Type="http://schemas.openxmlformats.org/officeDocument/2006/relationships/notesMaster" Target="/ppt/notesMasters/notesMaster1.xml" Id="R1bc2bd296c5349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92cec261f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97ab24a884df8" /><Relationship Type="http://schemas.openxmlformats.org/officeDocument/2006/relationships/slideLayout" Target="/ppt/slideLayouts/slideLayout1.xml" Id="R300e77827a6742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0e77827a6742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31ecd4f914626" /><Relationship Type="http://schemas.openxmlformats.org/officeDocument/2006/relationships/image" Target="/ppt/media/image.png" Id="R50d9d6debdeb49a5" /><Relationship Type="http://schemas.openxmlformats.org/officeDocument/2006/relationships/image" Target="/ppt/media/image2.png" Id="R9dea5d4a1f254a2e" /><Relationship Type="http://schemas.openxmlformats.org/officeDocument/2006/relationships/image" Target="/ppt/media/image3.png" Id="Rde7a423fec9c4338" /><Relationship Type="http://schemas.openxmlformats.org/officeDocument/2006/relationships/image" Target="/ppt/media/image4.png" Id="R87442f98e3a94724" /><Relationship Type="http://schemas.openxmlformats.org/officeDocument/2006/relationships/notesSlide" Target="/ppt/notesSlides/notesSlide1.xml" Id="Ra1c2e7b5d69949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9b2f866224fb3" /><Relationship Type="http://schemas.openxmlformats.org/officeDocument/2006/relationships/notesSlide" Target="/ppt/notesSlides/notesSlide2.xml" Id="R0b283bd0d7d042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256516e7f4128" /><Relationship Type="http://schemas.openxmlformats.org/officeDocument/2006/relationships/notesSlide" Target="/ppt/notesSlides/notesSlide3.xml" Id="R8101e941ec5e43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1e4b133b24cc2" /><Relationship Type="http://schemas.openxmlformats.org/officeDocument/2006/relationships/notesSlide" Target="/ppt/notesSlides/notesSlide4.xml" Id="Rc93b38f448de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7ac365af249da" /><Relationship Type="http://schemas.openxmlformats.org/officeDocument/2006/relationships/notesSlide" Target="/ppt/notesSlides/notesSlide5.xml" Id="Re8c44959075442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cbb5869e44c45" /><Relationship Type="http://schemas.openxmlformats.org/officeDocument/2006/relationships/notesSlide" Target="/ppt/notesSlides/notesSlide6.xml" Id="Re9c9cc4515dc4d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5931bd2b84254" /><Relationship Type="http://schemas.openxmlformats.org/officeDocument/2006/relationships/notesSlide" Target="/ppt/notesSlides/notesSlide7.xml" Id="Rd70b7153b74345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b062478c549cd" /><Relationship Type="http://schemas.openxmlformats.org/officeDocument/2006/relationships/notesSlide" Target="/ppt/notesSlides/notesSlide8.xml" Id="Rdc03154778624d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58eacae88489b" /><Relationship Type="http://schemas.openxmlformats.org/officeDocument/2006/relationships/notesSlide" Target="/ppt/notesSlides/notesSlide9.xml" Id="R9c7f268a066a416f" /></Relationships>
</file>

<file path=ppt/slides/_rels/slide10.xml.rels><?xml version="1.0" encoding="utf-8"?><ns0:Relationships xmlns:ns0="http://schemas.openxmlformats.org/package/2006/relationships"><ns0:Relationship Type="http://schemas.openxmlformats.org/officeDocument/2006/relationships/slideLayout" Target="/ppt/slideLayouts/slideLayout1.xml" Id="R65f8cce237ba4186" /><ns0:Relationship Type="http://schemas.openxmlformats.org/officeDocument/2006/relationships/notesSlide" Target="/ppt/notesSlides/notesSlide10.xml" Id="R0e4aab07dc334b48" /><ns0:Relationship Id="rIdSrc1" Type="http://schemas.openxmlformats.org/officeDocument/2006/relationships/hyperlink" Target="https://docs.oracle.com/en-us/iaas/releasenotes/index.htm" TargetMode="External" /><ns0:Relationship Id="rIdSrc2" Type="http://schemas.openxmlformats.org/officeDocument/2006/relationships/hyperlink" Target="https://docs.oracle.com/en/database/oracle/oracle-database/26/vecse/overview-ai-vector-search.html" TargetMode="External" /><ns0:Relationship Id="rIdSrc3" Type="http://schemas.openxmlformats.org/officeDocument/2006/relationships/hyperlink" Target="https://redwood.oracle.com/?pageId=CORE17B41D21FF4244A3BBB82A4D99AE610C&amp;shell=getting-started" TargetMode="External" /><ns0:Relationship Id="rIdSrc4" Type="http://schemas.openxmlformats.org/officeDocument/2006/relationships/hyperlink" Target="https://docs.cloud.google.com/oracle/database/docs/release-notes" TargetMode="External" /><ns0:Relationship Id="rIdSrc5" Type="http://schemas.openxmlformats.org/officeDocument/2006/relationships/hyperlink" Target="https://docs.cloud.google.com/oracle/database/docs" TargetMode="External" /><ns0:Relationship Id="rIdSrc6" Type="http://schemas.openxmlformats.org/officeDocument/2006/relationships/hyperlink" Target="https://docs.cloud.google.com/gemini/enterprise/docs" TargetMode="External" /><ns0:Relationship Id="rIdSrc7" Type="http://schemas.openxmlformats.org/officeDocument/2006/relationships/hyperlink" Target="https://docs.oracle.com/en-us/iaas/Content/database-at-gcp/home.htm" TargetMode="External" /><ns0:Relationship Id="rIdSrc8" Type="http://schemas.openxmlformats.org/officeDocument/2006/relationships/hyperlink" Target="https://docs.aws.amazon.com/odb/latest/UserGuide/doc-history.html" TargetMode="External" /><ns0:Relationship Id="rIdSrc9" Type="http://schemas.openxmlformats.org/officeDocument/2006/relationships/hyperlink" Target="https://docs.aws.amazon.com/odb/latest/UserGuide/what-is-odb.html" TargetMode="External" /><ns0:Relationship Id="rIdSrc10" Type="http://schemas.openxmlformats.org/officeDocument/2006/relationships/hyperlink" Target="https://docs.aws.amazon.com/odb/latest/UserGuide/how-it-works.html" TargetMode="External" /><ns0:Relationship Id="rIdSrc11" Type="http://schemas.openxmlformats.org/officeDocument/2006/relationships/hyperlink" Target="https://docs.aws.amazon.com/bedrock/latest/userguide/what-is-bedrock.html" TargetMode="External" /><ns0:Relationship Id="rIdSrc12" Type="http://schemas.openxmlformats.org/officeDocument/2006/relationships/hyperlink" Target="https://docs.oracle.com/en-us/iaas/Content/database-at-aws/oaaws.htm" TargetMode="External" /><ns0:Relationship Id="rIdSrc13" Type="http://schemas.openxmlformats.org/officeDocument/2006/relationships/hyperlink" Target="https://docs.oracle.com/en-us/iaas/Content/database-at-azure/overview.htm" TargetMode="External" /><ns0:Relationship Id="rIdSrc14" Type="http://schemas.openxmlformats.org/officeDocument/2006/relationships/hyperlink" Target="https://docs.oracle.com/en-us/iaas/Content/database-at-azure/oaa_regions.htm" TargetMode="External" /><ns0:Relationship Id="rIdSrc15" Type="http://schemas.openxmlformats.org/officeDocument/2006/relationships/hyperlink" Target="https://learn.microsoft.com/en-us/azure/foundry/what-is-foundry" TargetMode="External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5CD67E-4045-45C5-AC9C-FCD2AB15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A5738-2247-4DF7-A2D2-38DE0428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DC4E4-0148-4C17-B0A1-D877D0C8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0B44F-28EB-498A-A3F8-DC630499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OFFICIAL-SOURCE WEEKLY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7EE0A-30A1-4B73-B9BA-DED908EF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Weekly Multicloud Announcements and Innovations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3CF6-D845-4085-ADF3-04C4F831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2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25B"/>
                </a:solidFill>
                <a:latin typeface="Arial"/>
                <a:ea typeface="Arial"/>
                <a:cs typeface="Arial"/>
              </a:rPr>
              <a:t>Oracle Database on Exadata and Autonomous AI Database across Oracle Cloud, AWS, Google Cloud, and Azure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51F5E-F675-4B39-9B71-C4304D7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9d6debdeb49a5"/>
          <a:stretch xmlns:a="http://schemas.openxmlformats.org/drawingml/2006/main"/>
        </p:blipFill>
        <p:spPr>
          <a:xfrm xmlns:a="http://schemas.openxmlformats.org/drawingml/2006/main">
            <a:off x="781050" y="3425560"/>
            <a:ext cx="1409700" cy="25452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B04D0-B34B-410D-BE70-F7A79B4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a5d4a1f254a2e"/>
          <a:stretch xmlns:a="http://schemas.openxmlformats.org/drawingml/2006/main"/>
        </p:blipFill>
        <p:spPr>
          <a:xfrm xmlns:a="http://schemas.openxmlformats.org/drawingml/2006/main">
            <a:off x="2680970" y="3390900"/>
            <a:ext cx="138176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49F6A-E070-41B0-B2E8-0F6CBCF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a423fec9c4338"/>
          <a:stretch xmlns:a="http://schemas.openxmlformats.org/drawingml/2006/main"/>
        </p:blipFill>
        <p:spPr>
          <a:xfrm xmlns:a="http://schemas.openxmlformats.org/drawingml/2006/main">
            <a:off x="5024628" y="3390900"/>
            <a:ext cx="46634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50046-EC5A-404A-ABAA-57250A66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42f98e3a94724"/>
          <a:stretch xmlns:a="http://schemas.openxmlformats.org/drawingml/2006/main"/>
        </p:blipFill>
        <p:spPr>
          <a:xfrm xmlns:a="http://schemas.openxmlformats.org/drawingml/2006/main">
            <a:off x="6490053" y="3390900"/>
            <a:ext cx="1307394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88941-FDD1-4F53-9F58-BEC707A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3CBAE-8912-4226-BCF9-C8B2B032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096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6-12 Jun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127F8-75E8-435D-B9C0-FF72C136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525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coverage window, Australia/Melbourne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0CBE7-5BCE-4F07-B5EB-7707A9F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FB4BE-CBFE-4A39-9AAC-2C74EC47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F3328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1BDB3-3104-48B8-ADFC-5CA4766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strongest weekly signal: ADB-S in Oracle Database@AWS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DF945-8BD6-4B89-B554-F2E6692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19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D57DE-0F7F-49BA-8933-3162C848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Google Cloud and Azure had no new dated Oracle Database items inside the week.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E631D-2015-4669-BC4D-BC612A9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62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821C1-A6E6-4F98-9468-68A7C64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Recent watchlist still matters: GoldenGate, Autonomous Data Guard, KMS and DR.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F34ED-13B7-40CB-A4AA-DCB0D2C1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76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FC7263-F371-415E-ACA5-D7BC7627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Deck theme follows the official Redwood reference page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8512976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6D90C-3774-4071-B656-8DD8A1E8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1A7D7-CC98-4350-9A3B-3263777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6357D-5C23-4893-A9F3-2CD2E7F8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6C29C-08C9-4516-B8CD-9F81A2B5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doc history; Google release notes; Oracle Azure docs; OCI release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D0D8A-97CA-4B92-81EF-E1B914F3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E38AE-937B-4C50-AC02-304A052E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F3CCD-0E96-478E-A264-90B72348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WEEKLY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3053A-CF6E-4D13-BDF2-B70F69D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The weekly signal is narrow, but the AWS change is strategically important.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5853A-2620-481C-9115-D9C24F50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06619-ED1A-489D-970A-286D659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FBB70-3E06-4632-8A4C-FAC46B70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3B9A0-3E64-450A-8434-C0D2CD8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AFD83-172D-46BF-A74F-77999ACB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288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BEBA6-A975-41D1-B204-975DF58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527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BA57D-27ED-43F4-8D36-B1BAA1F6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3BB0D-0310-420E-ABFC-A296ECCC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Official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443D0-11E3-43BB-9C70-586AE39F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5270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DD4EB-1C92-4E56-9ECF-B227E169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9550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AC8A6-F147-4094-87E1-CEF49D58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288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BFEF7-1F06-4619-90BE-4B88C74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527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204D8-DD58-4D8E-994F-794EB9EA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47F43-DF17-4C58-9793-BF1CCBF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87A43-9FC7-479F-8D11-45E4C61B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352D4-3764-4582-8BAC-56E56EC9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77D5F-CD3C-4A36-A48A-36D0764C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0985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A192A-2B7B-4BD7-A8D8-F30B3B73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4320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10 Jun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A15A4-524D-456F-9F32-419CCEDA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6705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08CA4-4DE1-4321-A043-C82B6AA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A149E-A549-4CB2-A0C5-AC0B0AD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432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Database@AWS supports Autonomous Database Serverless.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B1D0E-6B4B-408E-B14B-B5F77F6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6705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C4F3E3-F1AA-4CFE-8FF7-92B5FCF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19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8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ABA94-0AA7-4EA7-A28E-4E28DE9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6702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3328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F636C-87E4-4C1E-A325-B15E5A68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3E9491-8C4F-42B8-9B5C-F10650B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B3826D-6526-495A-A191-19BC11C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3A9F5-0C26-49D8-90C4-992ADCE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4335AC-4D23-4E40-9562-8CB08A9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5280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6CC78A-7A47-4BF6-A110-425BE45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861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9 Jun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53A356-4DF4-4FD4-A314-66664C9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100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029ABA-2B55-45D5-8D9B-EFC2849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5280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13CD7C-428D-4C80-856C-357CCC5C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8615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 Generative AI adds import support for a Whisper-compatible model.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AAE03B-5CA9-4A07-9DD9-ADE7232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1000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6FD76B-A256-4E6E-9803-0CCFADE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623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17D922-2DD4-447B-8687-5A09B72B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60997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Adjacent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58A836-3771-4E46-847E-73909DF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720912-4E2E-41C8-9FDF-79D3DB1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82E2BF-1384-4E1D-80DD-D6F48FA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Google Cloud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D03083-A300-4DBA-BCF7-A947E87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2E1640-4D90-4093-BB52-DFDEA581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9575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2070BB-1AA9-4B50-9E56-70C0E168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2910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6-12 Jun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9BB040-6C29-4ADA-AC36-D036D0E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AFA647-58C6-4CDA-9E22-AC342C27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9575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7E870A-93C6-4100-B5AB-85A4085F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291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No new dated Oracle Database@Google Cloud item found in official release notes.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FBC01C-913B-4442-AAE8-5BEE1997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55295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CCD25D-78B3-459D-A373-634093C3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053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C017FA-AB3A-4396-80E7-A8BD3DE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35292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615CD3-E3ED-4DDD-AA95-75ABBE94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A9DD70-339A-4CED-BC95-75F26C95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2544B4-15FC-4007-ADD6-6285346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F1E815-D5CA-4FE0-8048-98FB2D2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162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E7D2F3-4863-40A2-9AF8-FA2CC0D3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38700"/>
            <a:ext cx="1381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C3051D-7768-46E8-90B2-D32FDB8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72050"/>
            <a:ext cx="1114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6-12 Jun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7EFF33-3E15-4C70-ABCC-0D59E1EF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95900"/>
            <a:ext cx="1114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2F0D05-F517-4D52-8E31-22DF70E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3870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DEC78B-7EB4-464E-AB8C-A866C62A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97205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No new official Oracle Database@Azure item found inside the week.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63BD15-03AE-42DE-8DD2-838B3C08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95900"/>
            <a:ext cx="554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F651EC-B09C-4613-9F9C-874B840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482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90F993-C222-4594-938E-D624BD2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095875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Steady</a:t>
            </a:r>
          </a:p>
        </p:txBody>
      </p:sp>
    </p:spTree>
    <p:extLst>
      <p:ext uri="{BB962C8B-B14F-4D97-AF65-F5344CB8AC3E}">
        <p14:creationId xmlns:p14="http://schemas.microsoft.com/office/powerpoint/2010/main" val="6995612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AAB5E-3A99-4FA0-ACEE-88ED017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567C-4132-468F-954E-40BDDAB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63B84-225B-4B21-9E78-085BE01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0E511-AAC7-45F8-B33B-8D5C201C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Oracle Database@AWS document history and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2FE90-3E9F-4B4C-8DD0-19A064F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85BD8-266C-4279-8C22-6AA8D47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48873-CAF7-4386-9AA0-4F329335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CB46F-DA4A-4C59-A13F-19BF400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04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Autonomous Database Serverless lowers the entry path for Oracle data on AWS.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0458-780A-4F9B-A34D-2F542C3D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E397D-3514-4A3E-9F4D-121DADE7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A4532-1C4B-4C13-B898-2A535FDC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Most serious Oracle Database@AWS designs centered on dedicated Exadata infrastructure and VM cluster planning.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4962B-1424-4FCF-A6F3-5406C70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933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7D84E-E755-463A-8926-4573839E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06670-E9A6-4C62-B541-8DA29ECF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2D73D-CFE1-4431-92C2-E40429A4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60E0C-3C3F-4804-BDF0-1F90845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documentation says Oracle Database@AWS supports Autonomous Database Serverless with create and manage flows and a public AWS Marketplace offer.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CBD17-648C-4EB3-9CC6-6BBC80BA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933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E11D2-5D26-442F-817B-62AAB0D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2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5E001-54C2-497C-AF6F-3D9EEFA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FE66B-3CC6-4A95-9C08-7EB7A26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Elastic AI and app workloads can start without provisioning Exadata infrastructure or VM clusters.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5C7D4-EA9A-4E42-91D9-5EA035CB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09AAD-59DC-48CA-A377-E71BF10F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F3328"/>
                </a:solidFill>
                <a:latin typeface="Aptos"/>
                <a:ea typeface="Aptos"/>
                <a:cs typeface="Aptos"/>
              </a:rPr>
              <a:t>ADB-S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CAE5F-3AEF-4277-ADE2-9A08550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serverless Autonomous Database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68CB8-C928-4C67-957A-AA05AF8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AFB40-5171-42F2-8F4C-DE855E1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Bedrock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76123-EAD0-4D6E-8FD3-AF376D2A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agent and generative AI adjacency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9F516-E779-44F1-901A-04670852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D4ABD-4374-4B42-AB79-2A63A9A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F5B"/>
                </a:solidFill>
                <a:latin typeface="Aptos"/>
                <a:ea typeface="Aptos"/>
                <a:cs typeface="Aptos"/>
              </a:rPr>
              <a:t>Redshift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38DE62-2C6D-49D5-8BE6-7D758C0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zero-ETL analytics watch pattern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BBEEDB-BAB1-49F6-99E9-6F1E6AC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D4E1CF-15EA-45D7-8FC4-92FF4FD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D5807B-AEC6-475B-8B6B-DB40E2EA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backup and data integration surface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24B5A-6575-48AE-98BC-DE9CB995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64C621-478A-4E83-857C-80BB2E40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885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Best pilot lane: AI-enabled apps that need Oracle transactional integrity with AWS-native model and analytics services.</a:t>
            </a:r>
          </a:p>
        </p:txBody>
      </p:sp>
    </p:spTree>
    <p:extLst>
      <p:ext uri="{BB962C8B-B14F-4D97-AF65-F5344CB8AC3E}">
        <p14:creationId xmlns:p14="http://schemas.microsoft.com/office/powerpoint/2010/main" val="9551308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A89AAF-808B-41E4-8E84-DD773D2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C9282-0F94-4A51-899F-834AC60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5717D-A5A6-43C5-B8C8-0860D3A0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34251-AAF0-440A-ADCB-7311A85B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Google Cloud Oracle Database@Google Cloud release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DFFCD-1C5B-4C67-A525-89088880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30219-54ED-429C-AE23-E69B5B5E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DAE1E-269F-4362-B63C-AE18E2C0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GOOGLE CLOUD WATCHLIST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4DC2C-4077-43FB-826E-748F13DB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95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Google Cloud shows a recent expansion pattern, not a current-week spike.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71E8E-2A7D-4F92-AF0E-61C600C8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939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35B88-339C-44F8-8FA2-AC5F126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9A07B-666A-499E-A8B5-137EDAB1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8F750-B58A-4B5D-BA31-E9B5A9C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20 Apr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513A8-6D9D-491E-918F-BF230322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E2835-65E3-43D7-AB5A-8EBF689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B0506-2439-4442-9409-816543C0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Database Center integration 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2C2BF-EED2-4582-9434-23EF3ECB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Fleet insights, alerts, and recommendations for Exadata and Autonomous Database.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DA164-E643-403B-A68D-339C82E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3625A-93DB-4135-BB6E-2B164F9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E8B2E-B98F-4207-871A-B156BD9B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19 May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1817D-78B1-4D5A-A83E-B7341EC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DAC5B-D929-4DF7-9CE4-2ACABC5C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0F720-011E-49D8-8E6E-C6A9C76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Autonomous Data Guard local peers 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453CE-A1EA-4CCC-B7D9-C45A65AE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Improves local continuity for Autonomous Database in Google Cloud.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EC6E4-44C4-4B35-84B5-D09E69F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37FC9F-9AC2-4F7F-A677-7D18A8C3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9D99D-0E1E-44E2-805C-2447A93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20 May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7E6CB-F5C9-46CD-A492-8653D63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26B88-F2B9-4BF8-B639-911B1F64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32B93-C517-4ACD-83F5-55A0001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 GoldenGate support GA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2C0D4-38A6-47DB-A7C0-09D98168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Strengthens migration, replication, and data-product feeds.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26CA0-5E6C-45A7-983A-4AC74C0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3382C-9728-4C2B-844F-66C3396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AF25A-6CD2-414E-AA48-A38A611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27 May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7E2A5D-2F50-4EC2-ACFE-C0517F7E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3561E-0003-4C51-9113-7C99C301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0190F-9A7B-4840-90F1-A27F7C79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Melbourne and Milan zones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92B6C6-E10B-4756-B187-FB4ACCD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Adds placement options for Exascale, Base Database, and GoldenGate.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2F19C9-636E-4D7D-ABAB-C2AD8E9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7B40AA-D03A-41D1-BFB6-B986D50E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038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E22BCB-2EA8-432B-ACDC-802D1CC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85975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9 Jun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E74FE8-493C-4102-A048-33104FF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67050"/>
            <a:ext cx="1676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00FC0D-E3C3-4CB5-B46C-2CC04485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670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7C14CE-5757-4A98-9E38-00E1D10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Release notes page updated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F961E1-E7ED-4576-BBA5-78A07FB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No new dated Oracle Database enhancement inside 6-12 June.</a:t>
            </a:r>
          </a:p>
        </p:txBody>
      </p:sp>
    </p:spTree>
    <p:extLst>
      <p:ext uri="{BB962C8B-B14F-4D97-AF65-F5344CB8AC3E}">
        <p14:creationId xmlns:p14="http://schemas.microsoft.com/office/powerpoint/2010/main" val="1245348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512E9-F45B-4977-8CBB-AFDFF93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FE53A-1B08-483C-8727-08E83B1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42AF-4C13-45BC-BEBB-6E988AE9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FEE53-82C1-4DB9-8768-D6E5CD5A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AI Database@Azure docs; Microsoft Foundry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5C6C2-A2AA-4327-AE13-099D5F6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4D879-363C-4217-9A60-42A4004C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074D-FF89-4C28-848E-EC6E896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AZURE PLATFORM 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7780C-7183-406C-A62D-74688A9D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Azure remains a broad landing zone for Oracle AI Database plus Microsoft Foundry.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1F9DF-6DB8-4CC1-832F-23A5C26E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79173-BB88-45B1-967F-D7BC7D41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0D55F-DB3B-4B39-8AF1-6D407E9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39BBC-D9A0-43D6-932A-1B9E056E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AKS, App Service, Functions, VM workloads, and enterprise network controls.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8AA53-41DC-42C2-8702-1471BE1D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742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A21D8-E8FD-4620-AE09-585DE4B4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381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5AAFC-3FDD-4A68-BD7C-E9B2F149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1F26D-F859-419C-8996-E2F3545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Delegated subnet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4ECA1-A815-4DD1-B1A2-98B2C1E2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docs describe Azure VNet plus delegated subnet for direct, secure, low-latency connectivity.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0042B-A0A6-4F82-8D32-3055038D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742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7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F2694-F34B-40E4-90AC-FFD1FED2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381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3AEFC-1B67-4731-859D-2784777F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2DFBA-CDFE-4A05-BF09-45416A9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AI Database@Azure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28DB7-4D19-47F0-A064-B6484F6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Exadata Database Service and Autonomous AI Database provisioned from the Azure console.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20387-C7FE-4F0A-B5D9-08C711EA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9525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3D47C-A94A-4954-919E-DE56E256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8E5F9-FCD5-4B2E-BA97-94B9B08A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577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02686-E303-45A9-A60E-958B9A20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Microsoft Foundry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70276-E4F7-4976-92F9-9E3BB9AC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Agents, model routing, evaluations, monitoring, policies, and enterprise AI operations.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FB646-6DBD-4688-ADCA-762C1EE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085A5-02F7-4E28-9974-39D3321A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2410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8D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8D4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79877-0EAF-4DD4-BCEB-9EE863CB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67000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live Oracle AI Database@Azure regions in official availability page</a:t>
            </a:r>
          </a:p>
        </p:txBody>
      </p:sp>
    </p:spTree>
    <p:extLst>
      <p:ext uri="{BB962C8B-B14F-4D97-AF65-F5344CB8AC3E}">
        <p14:creationId xmlns:p14="http://schemas.microsoft.com/office/powerpoint/2010/main" val="20742360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575857-2ECF-4906-B4E6-C51409A0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057AF-707E-458A-A7A5-83E0F67B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60D2A-86D0-471B-A784-230750E8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00B75-8D85-4786-869C-EABE8F9E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Database@AWS, @Google Cloud, @Azure official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C94B0-99D4-4C06-9902-256569BD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CC838-A604-4BCA-AA85-2F87F1D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5399D-06A1-4F49-BB06-7D3A5D0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PLACEMENT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0A604-A720-4D59-8263-B66FCF5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The architecture choice is increasingly data-plane plus AI-control-plane 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5D43C-4DCC-4AA5-B600-A46E0883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86D34-9401-4C23-A112-C6AF02A5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DDC77-98C4-479B-B07C-BD0EA4C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45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EF12A-79BC-42D9-A9BA-853162E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4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6D9C1-0B5D-4930-9D3F-0B32720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4790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DD036-F422-48A2-AE12-11ABA052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717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EC2/EKS/Lambda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A4FD1-2D95-4FE6-B083-5D03FE3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FEE15-6015-4008-89CE-1D6101A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1455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E060E-EF3F-49E6-92B3-2FFD7C7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145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BF8A5-60E2-46F4-A737-75704EFD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F2523-5AC5-4152-B26A-FA5E9E26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Database@AWS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ED8BF-5FA5-4545-A9BD-3B98E96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050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B29CE-0EB6-44F4-83ED-720B90B7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BC3E4-9508-40B9-B8B2-48DFE02D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1DA61-B81B-41D5-8E89-FF8159F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and analytics plane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030FF-2B21-45EA-AFD2-371F991B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Bedrock, Redshift, S3, EventBridge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BA02C-28CF-4A52-BE23-7C8DAB1E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3E86F-14F9-4692-9472-E2D3181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Google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E45F6-1D85-42BF-B032-C976F544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8F95E-23BA-4604-882E-64EF366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376E2-03A9-4473-8F9B-8FF2757B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5D519-9365-4AE3-87DF-9148F87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957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Cloud Run/GKE/Compute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FFCED-6FCE-4FBF-8781-160844D7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2902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4A0A3C-B369-4110-80AC-E2F06CE6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A2A5A-6EAB-427D-B325-4A908372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1F8C8-87B5-45EF-AE8E-77FF2C9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718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 plane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14B1C-F024-4FCB-B3D9-9BA1D70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Database@Google Cloud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B51B77-64CB-48D7-95A0-17D809E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2902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3A97A9-F050-4026-A251-DA947D38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168111-07B7-4D22-9E71-8A2FEAF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5A7638-EAEA-4864-BB4B-A3F5684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and analytics plane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00C324-EF57-4BE2-ABC6-7B1EE7D9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Gemini Enterprise, GoldenGate, Database Center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699733-5745-44E7-879B-1FFE537E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FEEC31-A5DA-4C57-B3E3-AD94D8DD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2D2A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2AA088-B071-4A28-A724-A9195B3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1C9053-90D2-428F-8BA3-D1297722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44298-6F38-4B64-B721-8D57A58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9580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20943C-598F-4245-B0D1-679F675F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196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AKS/App Service/Functions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C634D0-7D8E-44C5-9B1E-1827060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529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8DA28D-61D9-42A5-BB19-E090849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232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9D9033-B518-4D47-8680-935E215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955AB4-DAF4-415B-A0A0-FA3549D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958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data plane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7C4677-0A09-4BC4-A365-A192A079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1965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AI Database@Azure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FB8E69-9186-44F5-B72B-62430753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52975"/>
            <a:ext cx="647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E5F92A-03D7-4FA0-8ABD-3AF2A19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A9A799-333B-4FF0-BBDD-E67C4EA8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8575A9-DB4B-4EB9-AA98-DE0CA07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and analytics plane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D140D5-6AD2-4784-858D-524E0DC8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Microsoft Foundry, policy, identity</a:t>
            </a:r>
          </a:p>
        </p:txBody>
      </p:sp>
    </p:spTree>
    <p:extLst>
      <p:ext uri="{BB962C8B-B14F-4D97-AF65-F5344CB8AC3E}">
        <p14:creationId xmlns:p14="http://schemas.microsoft.com/office/powerpoint/2010/main" val="9111064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3BF35-1E9F-410B-91F6-3462866D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DE0C-B6F5-4F85-99A5-6902C0C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A2BBA-2F9E-480E-90D4-2F268D4A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443A3-8480-458E-8887-C60BA5FE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Oracle AI Vector Search; Bedrock; Gemini Enterprise; Microsoft Foundry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330D3-0664-475B-B8F7-A942299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B8F9F-69FF-4510-9EE6-82237A2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26584-3A06-4FFD-89A9-73EB3EE9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GOVERNED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C1DE6-F88F-45DF-9947-6630EF1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Autonomous AI Database can anchor RAG while hyperscaler AI handles reasoning and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31278-F2AC-4BE5-B001-82E0CAE0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9A30B-415A-4B40-80EB-810E8C5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72EE-9470-42AB-BF87-C731DB00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Oracle operational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94150-1E13-4D21-8ECE-9D113D4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Transactions, documents, metadata, policies, lineage, and entitlements stay governed in Oracle.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EA679-1422-4781-B23E-102241D9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4E7C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27622-5B4C-48BD-BF0D-3D99621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8D3BA-16BB-4381-B78E-A7FD6E08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012B7-F0E7-4C6B-8866-D7C7CF8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AI Vector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9D068-3B47-4E83-97C6-1878FC1B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Embeddings stored beside business data; semantic search runs close to the governed records.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5113C-2B7F-4200-9567-669CA239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AD743-6D53-4BAA-929F-1EFE5FB7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C2676-38B8-4822-970E-7304C59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77838-5C6F-4792-8539-360BD401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Model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FBB0D-13BF-4045-9189-859ABB19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Bedrock, Gemini Enterprise, Microsoft Foundry, or OCI Generative AI selected by use case.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9F931-76A9-4272-9C07-C4586B4E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625B"/>
          </a:solidFill>
          <a:ln xmlns:a="http://schemas.openxmlformats.org/drawingml/2006/main" w="0">
            <a:solidFill>
              <a:srgbClr val="6F62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4E5B4-79F3-4F31-9CE0-CCD3D641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7277E-C586-4BA8-A744-2EA03762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717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B0B3F-F8B1-482E-BE61-1A4269D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050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Agent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8ABFD-0B5D-4F4E-818B-12695DF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Answer, summarize, route, write back, or escalate with controls.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CCDFA-D731-4B17-A914-B7586785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6D5FE-85B7-4F25-9714-BDD2ED5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Use Oracle as the governed retrieval and data-quality boundary.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14A7C-041F-4169-B83A-A27F3A64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D21C93-C862-4EE7-B905-6025D2A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Expose only approved views, APIs, summaries, or vector search results to the model layer.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D6E59-FD97-4C45-A5E9-14000BF0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BA20C-8B87-4498-B512-D1798B3E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Choose the AI platform by domain fit, model governance, latency, cost, and enterprise channel.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7A2590-8FCC-4A0C-A365-2A75DA90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48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47BA5-8DE5-45D9-B248-98D32092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2D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12D2A"/>
                </a:solidFill>
                <a:latin typeface="Aptos"/>
                <a:ea typeface="Aptos"/>
                <a:cs typeface="Aptos"/>
              </a:rPr>
              <a:t>Log prompts, retrieval context, output, and user action for auditability.</a:t>
            </a:r>
          </a:p>
        </p:txBody>
      </p:sp>
    </p:spTree>
    <p:extLst>
      <p:ext uri="{BB962C8B-B14F-4D97-AF65-F5344CB8AC3E}">
        <p14:creationId xmlns:p14="http://schemas.microsoft.com/office/powerpoint/2010/main" val="3614980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8D738-8934-4CB6-8874-8218241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B6A3F-DCCE-4125-8559-B38660F9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9D4E8-7A5D-49A2-9A99-6964F580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5042B-AD34-475D-9B77-C717CAE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Architecture ideas synthesized from official service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7C897-6CE4-4EAB-AC7B-73598C96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B0A60-D722-4F27-896A-1FA0FBB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C23E6-0764-49A7-A1A9-EA73A95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ARCHITECTURE MOVES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102C3-FE03-4F53-9FF8-C5FA9687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38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Four multicloud moves are ready to evaluate.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BFE94-542B-4A4B-86AE-E7900D29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FC3BB-8CFE-4D92-8057-48BB6A1D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D1D42-504C-4026-BBD8-9CE31EB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AWS operational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C5E4C-5C89-4501-9A84-B744C207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Use Oracle Database@AWS ADB-S or Exadata with Bedrock agents, Redshift analytics, S3 integration, and CloudWatch/EventBridge operations.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7D52A-21E5-4138-BAD0-5EF0003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907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F41C2-63AE-4CA2-A4BF-6C2C2E11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90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C2197-59CB-4092-AE05-B432664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241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Gemini enterprise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935B7-1A70-4E90-84EF-B95BA25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4795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Ground Gemini Enterprise assistants on governed Oracle data, selected replicated views, GoldenGate feeds, and access-controlled 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37C6D-DA7B-4E42-B1FB-07EA008A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0F10D-605C-4681-8B8B-31B2AD5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130A0-049E-4A40-8737-5BE65E0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 regulated copilot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C554B-F4F0-4ABD-9B1A-D5610F4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Pair Oracle AI Database@Azure with Microsoft Foundry agents, model routing, evaluations, policy, identity, and Teams/M365 channels.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31ADC-A98E-4EEF-9489-631C5F08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00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603C1-03CA-493C-89D2-59FA095C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00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8A02F-AA38-47D5-B553-6B39B2D9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433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Cross-cloud governed fabric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B9B98-F518-4F6F-ADD9-52E5F5D6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6720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Keep Oracle as system of record, replicate only selected data products, and route AI work to the best provider by risk and domain.</a:t>
            </a:r>
          </a:p>
        </p:txBody>
      </p:sp>
    </p:spTree>
    <p:extLst>
      <p:ext uri="{BB962C8B-B14F-4D97-AF65-F5344CB8AC3E}">
        <p14:creationId xmlns:p14="http://schemas.microsoft.com/office/powerpoint/2010/main" val="6088601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A62C9-438D-4600-A686-225450A6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F0DEC-4AAA-4E5F-A59E-5B1B15D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FE08-C3B9-4763-BEF2-3EAA256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3422F-1AC6-48C8-A4A1-D0A9D649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AWS KMS/Data Guard release note; provider service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30557-F148-411B-B763-26F34675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1ECEC-53F3-45F0-BAEE-E146270E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3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81FD7-224B-43E2-929F-02FE32D4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CONTROLS BEFORE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8F6F8-D9EC-4E93-9F59-525CD2C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Governance, security, and DR should be designed before model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55E3B-6263-45E2-B22C-51590993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3FBAA-7907-4919-83B6-C5547FBB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FCA4E-0811-46E4-8DDB-A7636DBD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9A9B2-BAC4-432B-810F-D9DB3F6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1CF1A-6F55-4353-948B-E68C939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Required design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86599-0159-45B1-A2A6-C954F7E1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0985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ADBFE-8BDA-4BCC-BBED-679C511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E6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5456A-E932-48DF-90BC-CD57DF37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BC402-EB03-4C47-BAB9-99CDBDF1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1F6B7-72F1-4295-82B0-3D8C986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B7371-F06F-4BD2-8536-D17DD33C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14ED8-D682-4B74-B975-955A25F7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Key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74342-5FBC-4F85-A5D9-AA27907F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06938-3444-46F3-951C-A4FA9CC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8605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4F4BA-BB9B-4FC3-8367-A4448D8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Validate AWS KMS CMK support for Autonomous AI Database on Oracle Database@AWS cross-region Data Guard.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B18FC-E4E4-4DBF-9608-D3C3EB9C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44B3E-1BE3-430E-A336-CB38064B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8653A-57C8-4D68-9F73-43775F7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Regulated AWS-resident DR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5EC1F-119F-4957-A89C-19C6059B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4A59E-576D-420D-B909-5D18612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DBF6F-11AA-41BF-9951-2C969E5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CD5B8-3AFA-488F-BF93-0793EFBA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Data movement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FFE64-BF48-4439-9B84-1F599E2D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3F59A-2323-4EB0-A513-58D39213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E72B49-7D2A-4EC2-8FB6-B3E73DFD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6235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Classify whether each dataset stays in Oracle, is replicated, summarized, embedded, or exposed through an API.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A172A-6E9C-4057-8C92-70B866F6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8620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1BF33-606D-44F2-884D-0ABF2118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0FE8C3-D8FB-4F62-8E05-A874B8AD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Prevents uncontrolled AI data drift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9490F6-4C97-4FBC-9449-57B214B0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DB3AD2-F665-4094-9CA7-0245552F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18B3CD-D214-4676-9505-2D69C672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8BA098-50EE-4F75-8FC1-733894E0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A56344-BF9C-4867-9458-08D7924A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F0D669-16A2-42C6-B05A-8A2467D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7195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800DF-94B2-428B-B7D7-9D3F76BF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0530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Keep Oracle database entitlements authoritative; map provider IAM/RBAC to app and tool access.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45BDBA-78E1-4019-B710-5E31636E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E7E4A8-6BBB-4F6C-9D30-5C810EE2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91834B-4E42-454A-8284-0191BD32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Consistent least privilege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31D683-6F41-4C34-950E-2428C6C8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2657D8-A077-4605-BDE3-D94934D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15D890-B49D-48CB-8EEF-21A082E5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9BA360-0B58-436D-B643-5A8CE9EA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FF2AC3-277E-4DAA-8904-781E80C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447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613162-D200-4141-A5CD-EE53581F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590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4E74E6-7AD9-4CE9-8E63-5ACBC9DC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4825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Use provider observability for cloud-side services and Oracle controls for database health, backups, and patching.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4A7CD7-033D-441F-9252-D1B8EC1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72100"/>
            <a:ext cx="563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F31BDD-A896-4B76-B176-DC0EA03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E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094A38-6258-4C9E-8668-14CCE01C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Clear ownership boundary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311F53-53F9-49B6-9925-22B7FC8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7210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EC78FD-658C-49F8-9997-5864F87A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D"/>
          </a:solidFill>
          <a:ln xmlns:a="http://schemas.openxmlformats.org/drawingml/2006/main" w="9525">
            <a:solidFill>
              <a:srgbClr val="D7D0C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DE6C63-62DC-4EF6-BA51-8249822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600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15F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F5B"/>
                </a:solidFill>
                <a:latin typeface="Aptos"/>
                <a:ea typeface="Aptos"/>
                <a:cs typeface="Aptos"/>
              </a:rPr>
              <a:t>Design principle: move models to governed context, not governed data to every model.</a:t>
            </a:r>
          </a:p>
        </p:txBody>
      </p:sp>
    </p:spTree>
    <p:extLst>
      <p:ext uri="{BB962C8B-B14F-4D97-AF65-F5344CB8AC3E}">
        <p14:creationId xmlns:p14="http://schemas.microsoft.com/office/powerpoint/2010/main" val="177044804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DA91B587-427B-4BFD-A743-7ECBF32D9E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2AD0B9A2-5BBF-46BC-9C09-55EAE8296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B45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56EDEE15-397A-46D0-B9DC-4C93DA6BCD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9525"/>
          </a:xfrm>
          <a:prstGeom prst="rect">
            <a:avLst/>
          </a:prstGeom>
          <a:solidFill>
            <a:srgbClr val="D7D0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35FF8EC3-46D2-4A1D-8BC6-84AA3E569B1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7810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Appendix: grouped clickable official source topics</a:t>
            </a:r>
          </a:p>
        </p:txBody>
      </p:sp>
      <p:sp>
        <p:nvSpPr>
          <p:cNvPr id="5" name="">
            <a:extLst>
              <a:ext uri="{FF2B5EF4-FFF2-40B4-BE49-F238E27FC236}">
                <ns2:creationId id="{F894F1F3-73DF-40F4-9B6A-2C79308E0C2B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72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>
              <a:ext uri="{FF2B5EF4-FFF2-40B4-BE49-F238E27FC236}">
                <ns2:creationId id="{B2364C0C-9949-4AB3-9FBB-8F21144210F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76200"/>
          </a:xfrm>
          <a:prstGeom prst="rect">
            <a:avLst/>
          </a:prstGeom>
          <a:solidFill>
            <a:srgbClr val="8F3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A265D314-2C0E-477D-9337-66D47867B03A}"/>
              </a:ext>
            </a:extLst>
          </p:cNvPr>
          <p:cNvSpPr>
            <a:spLocks noGrp="1"/>
          </p:cNvSpPr>
          <p:nvPr/>
        </p:nvSpPr>
        <p:spPr>
          <a:xfrm>
            <a:off x="781050" y="4953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5B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8" name="">
            <a:extLst>
              <a:ext uri="{FF2B5EF4-FFF2-40B4-BE49-F238E27FC236}">
                <ns2:creationId id="{8466A20B-EE84-46AF-9E1C-62A9DB66F3E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8105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151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513"/>
                </a:solidFill>
                <a:latin typeface="Arial"/>
                <a:ea typeface="Arial"/>
                <a:cs typeface="Arial"/>
              </a:rPr>
              <a:t>Official source topics grouped by cloud.</a:t>
            </a:r>
          </a:p>
        </p:txBody>
      </p:sp>
      <p:sp>
        <p:nvSpPr>
          <p:cNvPr id="9" name="">
            <a:extLst>
              <a:ext uri="{FF2B5EF4-FFF2-40B4-BE49-F238E27FC236}">
                <ns2:creationId id="{31C36787-4AC1-4DE6-9002-A8DB7D4DD3E6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2158EEB-5988-4D0F-B312-B258B4CA47C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5095875" cy="4762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AA99152-2499-4B25-8BB2-D382EB189186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2" name="">
            <a:extLst>
              <a:ext uri="{FF2B5EF4-FFF2-40B4-BE49-F238E27FC236}">
                <ns2:creationId id="{B906012C-8136-486E-B504-911D302DCF61}"/>
              </a:ext>
            </a:extLst>
          </p:cNvPr>
          <p:cNvSpPr>
            <a:spLocks noGrp="1"/>
          </p:cNvSpPr>
          <p:nvPr/>
        </p:nvSpPr>
        <p:spPr>
          <a:xfrm>
            <a:off x="1962150" y="2247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13" name="">
            <a:extLst>
              <a:ext uri="{FF2B5EF4-FFF2-40B4-BE49-F238E27FC236}">
                <ns2:creationId id="{3DBFBEA2-761C-49ED-B068-66F029AD11C4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38100" cy="381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8A09C0BC-13EB-428F-AA89-BF6143AD9175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"/>
              </a:rPr>
              <a:t>Oracle Cloud Infrastructure release notes</a:t>
            </a:r>
          </a:p>
        </p:txBody>
      </p:sp>
      <p:sp>
        <p:nvSpPr>
          <p:cNvPr id="15" name="">
            <a:extLst>
              <a:ext uri="{FF2B5EF4-FFF2-40B4-BE49-F238E27FC236}">
                <ns2:creationId id="{2521A13E-9338-46AB-A230-D1E62D23AFDB}"/>
              </a:ext>
            </a:extLst>
          </p:cNvPr>
          <p:cNvSpPr>
            <a:spLocks noGrp="1"/>
          </p:cNvSpPr>
          <p:nvPr/>
        </p:nvSpPr>
        <p:spPr>
          <a:xfrm>
            <a:off x="800100" y="2886075"/>
            <a:ext cx="38100" cy="381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2CFC99F-CC28-4C5F-A9A7-266B3739FB1F}"/>
              </a:ext>
            </a:extLst>
          </p:cNvPr>
          <p:cNvSpPr>
            <a:spLocks noGrp="1"/>
          </p:cNvSpPr>
          <p:nvPr/>
        </p:nvSpPr>
        <p:spPr>
          <a:xfrm>
            <a:off x="933450" y="2828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2"/>
              </a:rPr>
              <a:t>Oracle AI Vector Search overview</a:t>
            </a:r>
          </a:p>
        </p:txBody>
      </p:sp>
      <p:sp>
        <p:nvSpPr>
          <p:cNvPr id="17" name="">
            <a:extLst>
              <a:ext uri="{FF2B5EF4-FFF2-40B4-BE49-F238E27FC236}">
                <ns2:creationId id="{F7A2FE8D-C2F7-4336-8CB9-D5C090C08666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38100" cy="3810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E4E68533-6279-470F-BF67-D1A4F267BB9F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3"/>
              </a:rPr>
              <a:t>Official Design for Oracle Redwood</a:t>
            </a:r>
          </a:p>
        </p:txBody>
      </p:sp>
      <p:sp>
        <p:nvSpPr>
          <p:cNvPr id="19" name="">
            <a:extLst>
              <a:ext uri="{FF2B5EF4-FFF2-40B4-BE49-F238E27FC236}">
                <ns2:creationId id="{D4708BF3-35D3-4116-8761-0C9DC2AC4711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33AEB3D5-18D7-4FC5-B973-1FCE08B173C1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5095875" cy="47625"/>
          </a:xfrm>
          <a:prstGeom prst="rect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AA09F28E-4DF3-42EF-8A18-8C372602327D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GCP</a:t>
            </a:r>
          </a:p>
        </p:txBody>
      </p:sp>
      <p:sp>
        <p:nvSpPr>
          <p:cNvPr id="22" name="">
            <a:extLst>
              <a:ext uri="{FF2B5EF4-FFF2-40B4-BE49-F238E27FC236}">
                <ns2:creationId id="{8E673416-D770-4695-B1DF-FB56031876FB}"/>
              </a:ext>
            </a:extLst>
          </p:cNvPr>
          <p:cNvSpPr>
            <a:spLocks noGrp="1"/>
          </p:cNvSpPr>
          <p:nvPr/>
        </p:nvSpPr>
        <p:spPr>
          <a:xfrm>
            <a:off x="7486650" y="2247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23" name="">
            <a:extLst>
              <a:ext uri="{FF2B5EF4-FFF2-40B4-BE49-F238E27FC236}">
                <ns2:creationId id="{63277F7E-FFD8-4655-B0C6-CD98CAA4F5B7}"/>
              </a:ext>
            </a:extLst>
          </p:cNvPr>
          <p:cNvSpPr>
            <a:spLocks noGrp="1"/>
          </p:cNvSpPr>
          <p:nvPr/>
        </p:nvSpPr>
        <p:spPr>
          <a:xfrm>
            <a:off x="6324600" y="2667000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BEBDFC87-3B22-4350-9A88-336ED92319F6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4"/>
              </a:rPr>
              <a:t>Google Cloud Oracle Database release notes</a:t>
            </a:r>
          </a:p>
        </p:txBody>
      </p:sp>
      <p:sp>
        <p:nvSpPr>
          <p:cNvPr id="25" name="">
            <a:extLst>
              <a:ext uri="{FF2B5EF4-FFF2-40B4-BE49-F238E27FC236}">
                <ns2:creationId id="{925FB3D7-B443-48FB-8300-2A1E660FB5FD}"/>
              </a:ext>
            </a:extLst>
          </p:cNvPr>
          <p:cNvSpPr>
            <a:spLocks noGrp="1"/>
          </p:cNvSpPr>
          <p:nvPr/>
        </p:nvSpPr>
        <p:spPr>
          <a:xfrm>
            <a:off x="6324600" y="2886075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38FBD635-3F0A-4175-9907-FBECAB9C8328}"/>
              </a:ext>
            </a:extLst>
          </p:cNvPr>
          <p:cNvSpPr>
            <a:spLocks noGrp="1"/>
          </p:cNvSpPr>
          <p:nvPr/>
        </p:nvSpPr>
        <p:spPr>
          <a:xfrm>
            <a:off x="6457950" y="2828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5"/>
              </a:rPr>
              <a:t>Google Cloud Oracle Database docs</a:t>
            </a:r>
          </a:p>
        </p:txBody>
      </p:sp>
      <p:sp>
        <p:nvSpPr>
          <p:cNvPr id="27" name="">
            <a:extLst>
              <a:ext uri="{FF2B5EF4-FFF2-40B4-BE49-F238E27FC236}">
                <ns2:creationId id="{94637750-328C-40A3-9E41-B1E6304CF684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8DAC1806-D387-4B1C-A113-41F72D4C2B00}"/>
              </a:ext>
            </a:extLst>
          </p:cNvPr>
          <p:cNvSpPr>
            <a:spLocks noGrp="1"/>
          </p:cNvSpPr>
          <p:nvPr/>
        </p:nvSpPr>
        <p:spPr>
          <a:xfrm>
            <a:off x="6457950" y="3048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6"/>
              </a:rPr>
              <a:t>Google Cloud Gemini Enterprise docs</a:t>
            </a:r>
          </a:p>
        </p:txBody>
      </p:sp>
      <p:sp>
        <p:nvSpPr>
          <p:cNvPr id="29" name="">
            <a:extLst>
              <a:ext uri="{FF2B5EF4-FFF2-40B4-BE49-F238E27FC236}">
                <ns2:creationId id="{85A5ADA2-9AF3-4567-B632-3884B011A255}"/>
              </a:ext>
            </a:extLst>
          </p:cNvPr>
          <p:cNvSpPr>
            <a:spLocks noGrp="1"/>
          </p:cNvSpPr>
          <p:nvPr/>
        </p:nvSpPr>
        <p:spPr>
          <a:xfrm>
            <a:off x="6324600" y="3324225"/>
            <a:ext cx="38100" cy="38100"/>
          </a:xfrm>
          <a:prstGeom prst="ellipse">
            <a:avLst/>
          </a:prstGeom>
          <a:solidFill>
            <a:srgbClr val="428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C2E39A85-58BA-4601-AED4-9DA397DFC2F1}"/>
              </a:ext>
            </a:extLst>
          </p:cNvPr>
          <p:cNvSpPr>
            <a:spLocks noGrp="1"/>
          </p:cNvSpPr>
          <p:nvPr/>
        </p:nvSpPr>
        <p:spPr>
          <a:xfrm>
            <a:off x="6457950" y="326707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7"/>
              </a:rPr>
              <a:t>Oracle Database@Google Cloud</a:t>
            </a:r>
          </a:p>
        </p:txBody>
      </p:sp>
      <p:sp>
        <p:nvSpPr>
          <p:cNvPr id="31" name="">
            <a:extLst>
              <a:ext uri="{FF2B5EF4-FFF2-40B4-BE49-F238E27FC236}">
                <ns2:creationId id="{68AC0D8D-3056-4E20-AE15-77029618D0DC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047A5157-045C-4E11-914F-B91A15BC7031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5095875" cy="47625"/>
          </a:xfrm>
          <a:prstGeom prst="rect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CB808CF8-915B-47E4-B2A8-BF60AD72DD6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34" name="">
            <a:extLst>
              <a:ext uri="{FF2B5EF4-FFF2-40B4-BE49-F238E27FC236}">
                <ns2:creationId id="{A4D6D2EC-A484-413A-8FB1-1C46540E498E}"/>
              </a:ext>
            </a:extLst>
          </p:cNvPr>
          <p:cNvSpPr>
            <a:spLocks noGrp="1"/>
          </p:cNvSpPr>
          <p:nvPr/>
        </p:nvSpPr>
        <p:spPr>
          <a:xfrm>
            <a:off x="1962150" y="4152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35" name="">
            <a:extLst>
              <a:ext uri="{FF2B5EF4-FFF2-40B4-BE49-F238E27FC236}">
                <ns2:creationId id="{67594E91-69F2-4111-8B12-7B8F79B7EAFB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F988927E-7898-4E1D-A6A3-263D7AB750A6}"/>
              </a:ext>
            </a:extLst>
          </p:cNvPr>
          <p:cNvSpPr>
            <a:spLocks noGrp="1"/>
          </p:cNvSpPr>
          <p:nvPr/>
        </p:nvSpPr>
        <p:spPr>
          <a:xfrm>
            <a:off x="933450" y="4514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8"/>
              </a:rPr>
              <a:t>AWS Oracle Database@AWS document history</a:t>
            </a:r>
          </a:p>
        </p:txBody>
      </p:sp>
      <p:sp>
        <p:nvSpPr>
          <p:cNvPr id="37" name="">
            <a:extLst>
              <a:ext uri="{FF2B5EF4-FFF2-40B4-BE49-F238E27FC236}">
                <ns2:creationId id="{8AAF043F-8B6F-4DE2-94E4-C962863D92C7}"/>
              </a:ext>
            </a:extLst>
          </p:cNvPr>
          <p:cNvSpPr>
            <a:spLocks noGrp="1"/>
          </p:cNvSpPr>
          <p:nvPr/>
        </p:nvSpPr>
        <p:spPr>
          <a:xfrm>
            <a:off x="800100" y="4791075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A186DC03-5EE9-4765-8F87-769644E8C960}"/>
              </a:ext>
            </a:extLst>
          </p:cNvPr>
          <p:cNvSpPr>
            <a:spLocks noGrp="1"/>
          </p:cNvSpPr>
          <p:nvPr/>
        </p:nvSpPr>
        <p:spPr>
          <a:xfrm>
            <a:off x="933450" y="4733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9"/>
              </a:rPr>
              <a:t>AWS Oracle Database@AWS overview</a:t>
            </a:r>
          </a:p>
        </p:txBody>
      </p:sp>
      <p:sp>
        <p:nvSpPr>
          <p:cNvPr id="39" name="">
            <a:extLst>
              <a:ext uri="{FF2B5EF4-FFF2-40B4-BE49-F238E27FC236}">
                <ns2:creationId id="{6025ACE2-E87B-492F-96DF-AF1D2348FA87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58CC8E3A-84B6-4486-A8CC-7878B3387D97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0"/>
              </a:rPr>
              <a:t>AWS Oracle Database@AWS how it works</a:t>
            </a:r>
          </a:p>
        </p:txBody>
      </p:sp>
      <p:sp>
        <p:nvSpPr>
          <p:cNvPr id="41" name="">
            <a:extLst>
              <a:ext uri="{FF2B5EF4-FFF2-40B4-BE49-F238E27FC236}">
                <ns2:creationId id="{1DA14649-90C9-43B6-BAA4-7E8368DD079E}"/>
              </a:ext>
            </a:extLst>
          </p:cNvPr>
          <p:cNvSpPr>
            <a:spLocks noGrp="1"/>
          </p:cNvSpPr>
          <p:nvPr/>
        </p:nvSpPr>
        <p:spPr>
          <a:xfrm>
            <a:off x="800100" y="5229225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F88A378B-AD31-4FAF-AC0B-5AAF4DAB4FC8}"/>
              </a:ext>
            </a:extLst>
          </p:cNvPr>
          <p:cNvSpPr>
            <a:spLocks noGrp="1"/>
          </p:cNvSpPr>
          <p:nvPr/>
        </p:nvSpPr>
        <p:spPr>
          <a:xfrm>
            <a:off x="933450" y="517207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1"/>
              </a:rPr>
              <a:t>AWS Amazon Bedrock User Guide</a:t>
            </a:r>
          </a:p>
        </p:txBody>
      </p:sp>
      <p:sp>
        <p:nvSpPr>
          <p:cNvPr id="43" name="">
            <a:extLst>
              <a:ext uri="{FF2B5EF4-FFF2-40B4-BE49-F238E27FC236}">
                <ns2:creationId id="{4025733F-BAC6-4019-B62F-ACE1945F65AF}"/>
              </a:ext>
            </a:extLst>
          </p:cNvPr>
          <p:cNvSpPr>
            <a:spLocks noGrp="1"/>
          </p:cNvSpPr>
          <p:nvPr/>
        </p:nvSpPr>
        <p:spPr>
          <a:xfrm>
            <a:off x="800100" y="5448300"/>
            <a:ext cx="38100" cy="38100"/>
          </a:xfrm>
          <a:prstGeom prst="ellipse">
            <a:avLst/>
          </a:prstGeom>
          <a:solidFill>
            <a:srgbClr val="FF99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DD76638B-CC17-4B97-89F6-229363C2854D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2"/>
              </a:rPr>
              <a:t>Oracle AI Database@AWS</a:t>
            </a:r>
          </a:p>
        </p:txBody>
      </p:sp>
      <p:sp>
        <p:nvSpPr>
          <p:cNvPr id="45" name="">
            <a:extLst>
              <a:ext uri="{FF2B5EF4-FFF2-40B4-BE49-F238E27FC236}">
                <ns2:creationId id="{6D2936C7-2167-4EAB-8D48-E4C5854C8F07}"/>
              </a:ext>
            </a:extLst>
          </p:cNvPr>
          <p:cNvSpPr>
            <a:spLocks noGrp="1"/>
          </p:cNvSpPr>
          <p:nvPr/>
        </p:nvSpPr>
        <p:spPr>
          <a:xfrm>
            <a:off x="6134100" y="3943350"/>
            <a:ext cx="50958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8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EC023FDC-F565-4360-8C3F-65553166CC65}"/>
              </a:ext>
            </a:extLst>
          </p:cNvPr>
          <p:cNvSpPr>
            <a:spLocks noGrp="1"/>
          </p:cNvSpPr>
          <p:nvPr/>
        </p:nvSpPr>
        <p:spPr>
          <a:xfrm>
            <a:off x="6134100" y="3943350"/>
            <a:ext cx="5095875" cy="47625"/>
          </a:xfrm>
          <a:prstGeom prst="rect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7C542E9B-866C-4FC6-8640-D79DB7AFE4C5}"/>
              </a:ext>
            </a:extLst>
          </p:cNvPr>
          <p:cNvSpPr>
            <a:spLocks noGrp="1"/>
          </p:cNvSpPr>
          <p:nvPr/>
        </p:nvSpPr>
        <p:spPr>
          <a:xfrm>
            <a:off x="6305550" y="41148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5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513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48" name="">
            <a:extLst>
              <a:ext uri="{FF2B5EF4-FFF2-40B4-BE49-F238E27FC236}">
                <ns2:creationId id="{473F58E5-4970-4D39-B3B1-EAC46EDAAAF0}"/>
              </a:ext>
            </a:extLst>
          </p:cNvPr>
          <p:cNvSpPr>
            <a:spLocks noGrp="1"/>
          </p:cNvSpPr>
          <p:nvPr/>
        </p:nvSpPr>
        <p:spPr>
          <a:xfrm>
            <a:off x="7486650" y="41529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625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25B"/>
                </a:solidFill>
                <a:latin typeface="Aptos"/>
                <a:ea typeface="Aptos"/>
                <a:cs typeface="Aptos"/>
              </a:rPr>
              <a:t>Click topic names to open official sources</a:t>
            </a:r>
          </a:p>
        </p:txBody>
      </p:sp>
      <p:sp>
        <p:nvSpPr>
          <p:cNvPr id="49" name="">
            <a:extLst>
              <a:ext uri="{FF2B5EF4-FFF2-40B4-BE49-F238E27FC236}">
                <ns2:creationId id="{279F4790-7AAE-46C3-A088-F635770A8927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38100" cy="38100"/>
          </a:xfrm>
          <a:prstGeom prst="ellipse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>
              <a:ext uri="{FF2B5EF4-FFF2-40B4-BE49-F238E27FC236}">
                <ns2:creationId id="{139EC610-4BE4-4C3E-B77F-87AEE84A0782}"/>
              </a:ext>
            </a:extLst>
          </p:cNvPr>
          <p:cNvSpPr>
            <a:spLocks noGrp="1"/>
          </p:cNvSpPr>
          <p:nvPr/>
        </p:nvSpPr>
        <p:spPr>
          <a:xfrm>
            <a:off x="6457950" y="451485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3"/>
              </a:rPr>
              <a:t>Oracle AI Database@Azure overview</a:t>
            </a:r>
          </a:p>
        </p:txBody>
      </p:sp>
      <p:sp>
        <p:nvSpPr>
          <p:cNvPr id="51" name="">
            <a:extLst>
              <a:ext uri="{FF2B5EF4-FFF2-40B4-BE49-F238E27FC236}">
                <ns2:creationId id="{C591772C-4216-4FF4-BE43-75FF0B325D42}"/>
              </a:ext>
            </a:extLst>
          </p:cNvPr>
          <p:cNvSpPr>
            <a:spLocks noGrp="1"/>
          </p:cNvSpPr>
          <p:nvPr/>
        </p:nvSpPr>
        <p:spPr>
          <a:xfrm>
            <a:off x="6324600" y="4791075"/>
            <a:ext cx="38100" cy="38100"/>
          </a:xfrm>
          <a:prstGeom prst="ellipse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>
              <a:ext uri="{FF2B5EF4-FFF2-40B4-BE49-F238E27FC236}">
                <ns2:creationId id="{A86196E3-DB21-44FE-9603-5FCE9900E858}"/>
              </a:ext>
            </a:extLst>
          </p:cNvPr>
          <p:cNvSpPr>
            <a:spLocks noGrp="1"/>
          </p:cNvSpPr>
          <p:nvPr/>
        </p:nvSpPr>
        <p:spPr>
          <a:xfrm>
            <a:off x="6457950" y="473392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4"/>
              </a:rPr>
              <a:t>Oracle AI Database@Azure regional availability</a:t>
            </a:r>
          </a:p>
        </p:txBody>
      </p:sp>
      <p:sp>
        <p:nvSpPr>
          <p:cNvPr id="53" name="">
            <a:extLst>
              <a:ext uri="{FF2B5EF4-FFF2-40B4-BE49-F238E27FC236}">
                <ns2:creationId id="{02AF68AE-A4A0-4E0A-81F4-F4DEEBA698D3}"/>
              </a:ext>
            </a:extLst>
          </p:cNvPr>
          <p:cNvSpPr>
            <a:spLocks noGrp="1"/>
          </p:cNvSpPr>
          <p:nvPr/>
        </p:nvSpPr>
        <p:spPr>
          <a:xfrm>
            <a:off x="6324600" y="5010150"/>
            <a:ext cx="38100" cy="38100"/>
          </a:xfrm>
          <a:prstGeom prst="ellipse">
            <a:avLst/>
          </a:prstGeom>
          <a:solidFill>
            <a:srgbClr val="0078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>
              <a:ext uri="{FF2B5EF4-FFF2-40B4-BE49-F238E27FC236}">
                <ns2:creationId id="{CDF55138-8E38-4B57-B7E5-061478D23B8B}"/>
              </a:ext>
            </a:extLst>
          </p:cNvPr>
          <p:cNvSpPr>
            <a:spLocks noGrp="1"/>
          </p:cNvSpPr>
          <p:nvPr/>
        </p:nvSpPr>
        <p:spPr>
          <a:xfrm>
            <a:off x="6457950" y="49530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8F332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F3328"/>
                </a:solidFill>
                <a:latin typeface="Aptos"/>
                <a:ea typeface="Aptos"/>
                <a:cs typeface="Aptos"/>
                <a:hlinkClick r:id="rIdSrc15"/>
              </a:rPr>
              <a:t>Microsoft Foundry overview</a:t>
            </a:r>
          </a:p>
        </p:txBody>
      </p:sp>
    </p:spTree>
    <p:extLst>
      <p:ext uri="{BB962C8B-B14F-4D97-AF65-F5344CB8AC3E}">
        <ns4:creationId val="1197365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2026-06-12T04:36:31.2390000Z</dcterms:created>
  <dcterms:modified xsi:type="dcterms:W3CDTF">2026-06-12T04:36:31.2390000Z</dcterms:modified>
</coreProperties>
</file>