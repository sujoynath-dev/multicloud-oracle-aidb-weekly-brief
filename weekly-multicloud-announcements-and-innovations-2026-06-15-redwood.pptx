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15d6173faa4a44" /><Relationship Type="http://schemas.openxmlformats.org/officeDocument/2006/relationships/extended-properties" Target="/docProps/app.xml" Id="R6ba0459a85984a77" /><Relationship Type="http://schemas.openxmlformats.org/officeDocument/2006/relationships/officeDocument" Target="/ppt/presentation.xml" Id="Ra15a2eb3d1f9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9233144d140f8"/>
  </p:sldMasterIdLst>
  <p:notesMasterIdLst>
    <p:notesMasterId xmlns:r="http://schemas.openxmlformats.org/officeDocument/2006/relationships" r:id="R13a204acf05e48da"/>
  </p:notesMasterIdLst>
  <p:sldIdLst>
    <p:sldId xmlns:r="http://schemas.openxmlformats.org/officeDocument/2006/relationships" id="256" r:id="R4bdf2f2dc2d744c6"/>
    <p:sldId xmlns:r="http://schemas.openxmlformats.org/officeDocument/2006/relationships" id="257" r:id="R4ad17754e5154085"/>
    <p:sldId xmlns:r="http://schemas.openxmlformats.org/officeDocument/2006/relationships" id="258" r:id="R22e73fbc48304c3f"/>
    <p:sldId xmlns:r="http://schemas.openxmlformats.org/officeDocument/2006/relationships" id="259" r:id="R6bf1b983f42a4e66"/>
    <p:sldId xmlns:r="http://schemas.openxmlformats.org/officeDocument/2006/relationships" id="260" r:id="R6f7fb8b77c7d4900"/>
    <p:sldId xmlns:r="http://schemas.openxmlformats.org/officeDocument/2006/relationships" id="261" r:id="Rfa2422acba2e497d"/>
    <p:sldId xmlns:r="http://schemas.openxmlformats.org/officeDocument/2006/relationships" id="262" r:id="R4beeeddf4b17410d"/>
    <p:sldId xmlns:r="http://schemas.openxmlformats.org/officeDocument/2006/relationships" id="263" r:id="Ra2d51508d7c6436c"/>
    <p:sldId xmlns:r="http://schemas.openxmlformats.org/officeDocument/2006/relationships" id="264" r:id="R6f5b09abcfd94026"/>
    <p:sldId xmlns:r="http://schemas.openxmlformats.org/officeDocument/2006/relationships" id="265" r:id="Rfbc11bf351f944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d8cb4516c4950" /><Relationship Type="http://schemas.openxmlformats.org/officeDocument/2006/relationships/slideMaster" Target="/ppt/slideMasters/slideMaster1.xml" Id="R14d9233144d140f8" /><Relationship Type="http://schemas.openxmlformats.org/officeDocument/2006/relationships/notesMaster" Target="/ppt/notesMasters/notesMaster1.xml" Id="R13a204acf05e48da" /><Relationship Type="http://schemas.openxmlformats.org/officeDocument/2006/relationships/presProps" Target="/ppt/presProps.xml" Id="R4a91d368124744f5" /><Relationship Type="http://schemas.openxmlformats.org/officeDocument/2006/relationships/tableStyles" Target="/ppt/tableStyles.xml" Id="Rda33ee5e17c94a0b" /><Relationship Type="http://schemas.openxmlformats.org/officeDocument/2006/relationships/slide" Target="/ppt/slides/slide1.xml" Id="R4bdf2f2dc2d744c6" /><Relationship Type="http://schemas.openxmlformats.org/officeDocument/2006/relationships/slide" Target="/ppt/slides/slide2.xml" Id="R4ad17754e5154085" /><Relationship Type="http://schemas.openxmlformats.org/officeDocument/2006/relationships/slide" Target="/ppt/slides/slide3.xml" Id="R22e73fbc48304c3f" /><Relationship Type="http://schemas.openxmlformats.org/officeDocument/2006/relationships/slide" Target="/ppt/slides/slide4.xml" Id="R6bf1b983f42a4e66" /><Relationship Type="http://schemas.openxmlformats.org/officeDocument/2006/relationships/slide" Target="/ppt/slides/slide5.xml" Id="R6f7fb8b77c7d4900" /><Relationship Type="http://schemas.openxmlformats.org/officeDocument/2006/relationships/slide" Target="/ppt/slides/slide6.xml" Id="Rfa2422acba2e497d" /><Relationship Type="http://schemas.openxmlformats.org/officeDocument/2006/relationships/slide" Target="/ppt/slides/slide7.xml" Id="R4beeeddf4b17410d" /><Relationship Type="http://schemas.openxmlformats.org/officeDocument/2006/relationships/slide" Target="/ppt/slides/slide8.xml" Id="Ra2d51508d7c6436c" /><Relationship Type="http://schemas.openxmlformats.org/officeDocument/2006/relationships/slide" Target="/ppt/slides/slide9.xml" Id="R6f5b09abcfd94026" /><Relationship Type="http://schemas.openxmlformats.org/officeDocument/2006/relationships/slide" Target="/ppt/slides/slide10.xml" Id="Rfbc11bf351f944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db6f851a35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916d6dc984d9b" /><Relationship Type="http://schemas.openxmlformats.org/officeDocument/2006/relationships/notesMaster" Target="/ppt/notesMasters/notesMaster1.xml" Id="R53b6fb1c0cde41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a05c58b3a4019" /><Relationship Type="http://schemas.openxmlformats.org/officeDocument/2006/relationships/notesMaster" Target="/ppt/notesMasters/notesMaster1.xml" Id="Rd92e4ea35d7446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fa5867cdeb4e37" /><Relationship Type="http://schemas.openxmlformats.org/officeDocument/2006/relationships/notesMaster" Target="/ppt/notesMasters/notesMaster1.xml" Id="R9cc3297cb22747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7a1ccbc2a24220" /><Relationship Type="http://schemas.openxmlformats.org/officeDocument/2006/relationships/notesMaster" Target="/ppt/notesMasters/notesMaster1.xml" Id="Rbd51d988e6f941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683ad917304350" /><Relationship Type="http://schemas.openxmlformats.org/officeDocument/2006/relationships/notesMaster" Target="/ppt/notesMasters/notesMaster1.xml" Id="R00e20e1d74d143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5b6b22f2a8465a" /><Relationship Type="http://schemas.openxmlformats.org/officeDocument/2006/relationships/notesMaster" Target="/ppt/notesMasters/notesMaster1.xml" Id="R7ff6718e1f8048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6876bb90094864" /><Relationship Type="http://schemas.openxmlformats.org/officeDocument/2006/relationships/notesMaster" Target="/ppt/notesMasters/notesMaster1.xml" Id="Rcda31bc28ceb4f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d69c06ab4e4712" /><Relationship Type="http://schemas.openxmlformats.org/officeDocument/2006/relationships/notesMaster" Target="/ppt/notesMasters/notesMaster1.xml" Id="Rd641d5fd4e6c41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46a3fc49f048a2" /><Relationship Type="http://schemas.openxmlformats.org/officeDocument/2006/relationships/notesMaster" Target="/ppt/notesMasters/notesMaster1.xml" Id="R46cc33ad04504f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ba20eee24e4c59" /><Relationship Type="http://schemas.openxmlformats.org/officeDocument/2006/relationships/notesMaster" Target="/ppt/notesMasters/notesMaster1.xml" Id="R122fe61d3c974c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a56acecbe4d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2e8f57011240c3" /><Relationship Type="http://schemas.openxmlformats.org/officeDocument/2006/relationships/slideLayout" Target="/ppt/slideLayouts/slideLayout1.xml" Id="R871c0698dcd8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c0698dcd8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7eef4fb2b4753" /><Relationship Type="http://schemas.openxmlformats.org/officeDocument/2006/relationships/image" Target="/ppt/media/image.png" Id="R614ef4c3e0774957" /><Relationship Type="http://schemas.openxmlformats.org/officeDocument/2006/relationships/image" Target="/ppt/media/image2.png" Id="R85e11cddcf1142cb" /><Relationship Type="http://schemas.openxmlformats.org/officeDocument/2006/relationships/image" Target="/ppt/media/image3.png" Id="R28f6deff7fd34a70" /><Relationship Type="http://schemas.openxmlformats.org/officeDocument/2006/relationships/image" Target="/ppt/media/image4.png" Id="R9f6c96cbcbbf42e9" /><Relationship Type="http://schemas.openxmlformats.org/officeDocument/2006/relationships/notesSlide" Target="/ppt/notesSlides/notesSlide1.xml" Id="R6ad551106e1847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02957612247fc" /><Relationship Type="http://schemas.openxmlformats.org/officeDocument/2006/relationships/notesSlide" Target="/ppt/notesSlides/notesSlide2.xml" Id="Rc754cbdafb5f4b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08a47c6c64216" /><Relationship Type="http://schemas.openxmlformats.org/officeDocument/2006/relationships/notesSlide" Target="/ppt/notesSlides/notesSlide3.xml" Id="R7596a08e9b7e43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d5ce349284149" /><Relationship Type="http://schemas.openxmlformats.org/officeDocument/2006/relationships/notesSlide" Target="/ppt/notesSlides/notesSlide4.xml" Id="Ra20981f3bffa4e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35ac1f684a11" /><Relationship Type="http://schemas.openxmlformats.org/officeDocument/2006/relationships/notesSlide" Target="/ppt/notesSlides/notesSlide5.xml" Id="R2115e089e9a541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16d1242084216" /><Relationship Type="http://schemas.openxmlformats.org/officeDocument/2006/relationships/notesSlide" Target="/ppt/notesSlides/notesSlide6.xml" Id="Rd419a82bea9a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47acf5f2b4e8f" /><Relationship Type="http://schemas.openxmlformats.org/officeDocument/2006/relationships/notesSlide" Target="/ppt/notesSlides/notesSlide7.xml" Id="R8b061b4e954148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a63de766d4d78" /><Relationship Type="http://schemas.openxmlformats.org/officeDocument/2006/relationships/notesSlide" Target="/ppt/notesSlides/notesSlide8.xml" Id="R5125c09bc7e14d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ffb2db37142d6" /><Relationship Type="http://schemas.openxmlformats.org/officeDocument/2006/relationships/notesSlide" Target="/ppt/notesSlides/notesSlide9.xml" Id="Re472bc0b778c4d4f" /></Relationships>
</file>

<file path=ppt/slides/_rels/slide10.xml.rels><?xml version="1.0" encoding="utf-8"?><ns0:Relationships xmlns:ns0="http://schemas.openxmlformats.org/package/2006/relationships"><ns0:Relationship Type="http://schemas.openxmlformats.org/officeDocument/2006/relationships/slideLayout" Target="/ppt/slideLayouts/slideLayout1.xml" Id="R20a01016d38349f1" /><ns0:Relationship Type="http://schemas.openxmlformats.org/officeDocument/2006/relationships/notesSlide" Target="/ppt/notesSlides/notesSlide10.xml" Id="R617c767f7d80481a" /><ns0:Relationship Id="rIdSrc1" Type="http://schemas.openxmlformats.org/officeDocument/2006/relationships/hyperlink" Target="https://docs.oracle.com/en-us/iaas/releasenotes/index.htm" TargetMode="External" /><ns0:Relationship Id="rIdSrc2" Type="http://schemas.openxmlformats.org/officeDocument/2006/relationships/hyperlink" Target="https://docs.oracle.com/en/database/oracle/oracle-database/26/vecse/overview-ai-vector-search.html" TargetMode="External" /><ns0:Relationship Id="rIdSrc3" Type="http://schemas.openxmlformats.org/officeDocument/2006/relationships/hyperlink" Target="https://redwood.oracle.com/?pageId=CORE17B41D21FF4244A3BBB82A4D99AE610C&amp;shell=getting-started" TargetMode="External" /><ns0:Relationship Id="rIdSrc4" Type="http://schemas.openxmlformats.org/officeDocument/2006/relationships/hyperlink" Target="https://docs.cloud.google.com/oracle/database/docs/release-notes" TargetMode="External" /><ns0:Relationship Id="rIdSrc5" Type="http://schemas.openxmlformats.org/officeDocument/2006/relationships/hyperlink" Target="https://docs.cloud.google.com/oracle/database/docs" TargetMode="External" /><ns0:Relationship Id="rIdSrc6" Type="http://schemas.openxmlformats.org/officeDocument/2006/relationships/hyperlink" Target="https://docs.cloud.google.com/gemini/enterprise/docs" TargetMode="External" /><ns0:Relationship Id="rIdSrc7" Type="http://schemas.openxmlformats.org/officeDocument/2006/relationships/hyperlink" Target="https://docs.oracle.com/en-us/iaas/Content/database-at-gcp/home.htm" TargetMode="External" /><ns0:Relationship Id="rIdSrc8" Type="http://schemas.openxmlformats.org/officeDocument/2006/relationships/hyperlink" Target="https://docs.aws.amazon.com/odb/latest/UserGuide/doc-history.html" TargetMode="External" /><ns0:Relationship Id="rIdSrc9" Type="http://schemas.openxmlformats.org/officeDocument/2006/relationships/hyperlink" Target="https://docs.aws.amazon.com/odb/latest/UserGuide/what-is-odb.html" TargetMode="External" /><ns0:Relationship Id="rIdSrc10" Type="http://schemas.openxmlformats.org/officeDocument/2006/relationships/hyperlink" Target="https://docs.aws.amazon.com/odb/latest/UserGuide/how-it-works.html" TargetMode="External" /><ns0:Relationship Id="rIdSrc11" Type="http://schemas.openxmlformats.org/officeDocument/2006/relationships/hyperlink" Target="https://docs.aws.amazon.com/bedrock/latest/userguide/what-is-bedrock.html" TargetMode="External" /><ns0:Relationship Id="rIdSrc12" Type="http://schemas.openxmlformats.org/officeDocument/2006/relationships/hyperlink" Target="https://docs.oracle.com/en-us/iaas/Content/database-at-aws/oaaws.htm" TargetMode="External" /><ns0:Relationship Id="rIdSrc13" Type="http://schemas.openxmlformats.org/officeDocument/2006/relationships/hyperlink" Target="https://docs.oracle.com/en-us/iaas/Content/database-at-azure/overview.htm" TargetMode="External" /><ns0:Relationship Id="rIdSrc14" Type="http://schemas.openxmlformats.org/officeDocument/2006/relationships/hyperlink" Target="https://docs.oracle.com/en-us/iaas/Content/database-at-azure/oaa_regions.htm" TargetMode="External" /><ns0:Relationship Id="rIdSrc15" Type="http://schemas.openxmlformats.org/officeDocument/2006/relationships/hyperlink" Target="https://learn.microsoft.com/en-us/azure/foundry/what-is-foundry" TargetMode="External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A3618-83BE-44E1-B249-7E8A445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07245-C62F-4F58-BBAD-8538DFB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AF804-D740-4377-B5E0-CE8889DB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6F013-073A-4A9E-AE70-C56E9C56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OFFICIAL-SOURCE WEEKLY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E0D31-831F-4081-9A2E-32E97D60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Weekly Multicloud Announcements and Innovations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191B3-4204-4FFE-BC20-9BC2345B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25B"/>
                </a:solidFill>
                <a:latin typeface="Arial"/>
                <a:ea typeface="Arial"/>
                <a:cs typeface="Arial"/>
              </a:rPr>
              <a:t>Oracle Database on Exadata and Autonomous AI Database across Oracle Cloud, AWS, Google Cloud, and Azure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588DE-BDE6-447E-A4D8-34D85BBE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ef4c3e0774957"/>
          <a:stretch xmlns:a="http://schemas.openxmlformats.org/drawingml/2006/main"/>
        </p:blipFill>
        <p:spPr>
          <a:xfrm xmlns:a="http://schemas.openxmlformats.org/drawingml/2006/main">
            <a:off x="781050" y="3425560"/>
            <a:ext cx="1409700" cy="25452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150E9-1C7B-4CD4-ADBC-79BF4EF9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11cddcf1142cb"/>
          <a:stretch xmlns:a="http://schemas.openxmlformats.org/drawingml/2006/main"/>
        </p:blipFill>
        <p:spPr>
          <a:xfrm xmlns:a="http://schemas.openxmlformats.org/drawingml/2006/main">
            <a:off x="2680970" y="3390900"/>
            <a:ext cx="138176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ABDFD-08D2-4582-8B94-B5DD277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6deff7fd34a70"/>
          <a:stretch xmlns:a="http://schemas.openxmlformats.org/drawingml/2006/main"/>
        </p:blipFill>
        <p:spPr>
          <a:xfrm xmlns:a="http://schemas.openxmlformats.org/drawingml/2006/main">
            <a:off x="5024628" y="3390900"/>
            <a:ext cx="46634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F4995-2FE1-4D0F-8835-D10CA866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c96cbcbbf42e9"/>
          <a:stretch xmlns:a="http://schemas.openxmlformats.org/drawingml/2006/main"/>
        </p:blipFill>
        <p:spPr>
          <a:xfrm xmlns:a="http://schemas.openxmlformats.org/drawingml/2006/main">
            <a:off x="6490053" y="3390900"/>
            <a:ext cx="1307394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50086-FAA8-4186-99EC-FFE7186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2769D-44CC-4C77-A100-A77C0490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096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9-15 Jun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58DAB-39DC-4687-9153-6E7E032E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525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coverage window, Australia/Melbourne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458A8-62CF-4E2D-A57E-2F251AAA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F401C-5794-4CF5-AD65-851567CA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336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F3328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B7666-5255-4B6C-A49A-CB1FB6D5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strongest weekly signal: ADB-S in Oracle Database@AWS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5AD5C-4537-4200-85EF-B9E0ED14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19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ED623-B234-4244-862E-3683D04F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OCI had adjacent data and AI platform updates: GoldenGate Veridata and Generative AI model import.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B3C87-8B84-4B6C-8D26-942DAB0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52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A2DC7-FEAB-41B1-8C42-1C7F0A88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862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Google Cloud and Azure had no new dated Oracle Database items inside the week.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0A1A72-A4DC-4465-8543-FE3741AA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86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DDC2E-8335-4CEC-86C3-620E2C9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Deck theme follows the official Redwood reference page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4581285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B7A0F0-FCB0-4AED-AC67-6DCC946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D7CA5-7CE9-42F1-8B6F-96016C04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4FE54-9A35-4342-B713-FD78E349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F0719-081B-469D-8BFD-D8953808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doc history; Google release notes; Oracle Azure docs; OCI release 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DA2A4-6FFF-4D19-881E-046BEF38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4D80F-714D-4475-8081-E5AB3815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FE56C-4F80-48EA-A72A-CB8CD58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WEEKLY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55500-2CEB-4272-9EDC-E7FE886A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The weekly signal is narrow, but the AWS change is strategically important.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952CC-6FF4-4B35-9BC3-AB46B99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8D78B-5006-48A4-A632-232853BB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6D9A5-3C22-4EC8-A08A-CF0890A5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4037F-34EB-4538-9C90-A1C4E960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34DC2-F75F-4872-94F4-6068B6E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288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A047C-D7A1-4206-B8D7-DFC811E9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527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75495-BD3D-4BE1-8805-664306A3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D998A-11C4-4EA7-9CAF-2CE482C2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2885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Official 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49228-BF75-4AD7-B90F-F2094B39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5270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77A3C-0280-47DE-B756-B81A8EC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9550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B63EF-AD5C-4740-AC5A-51DA0CD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288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D855F-0950-453F-9964-75BB313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527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D9F30-FE53-47D1-845D-70DB588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C14B8-05EA-44E5-9DB1-C04EBE37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581D7-60A2-4D2E-9E29-666EB6B9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C10A2-A14F-4D15-B4B7-6850AF9E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885E3-24D5-4937-BFCC-BA78C3D2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0985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8D44C-25FC-41E2-B2F9-3C8E8ABB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4320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10 Jun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6B1723-34B5-4E18-8CDF-D7EA7070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6705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C26B2-752C-421B-AEA6-4DA2CE5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0C03A-33F2-424B-935E-51E7B928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432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Database@AWS supports Autonomous Database Serverless.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52265-DAEF-40AA-89C5-2F1101A5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6705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F6E85-FE3C-4DCA-9B0B-13B37538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19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8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3CFAB8-8352-44E5-92ED-993E4E42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6702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3328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04AB47-D2D9-44EB-93CC-E3B08EF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A769C8-E39F-4329-9DB7-F4EE9D7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35E888-C954-46D9-BC0B-80B01C91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3DF222-3539-4930-B13B-A10A0D1F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D51F6-CBD6-4509-B6D7-48F0FE2E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5280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3C9FED-7214-4A91-B7DA-B81E3C1C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861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9-10 Jun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B44A5D-1B37-4D76-9C41-5DE289AC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100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DC376D-A1CD-4E87-924C-EDE0ED2C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5280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F4B57F-F8B4-4C25-ADC4-73897512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8615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OCI GoldenGate adds Veridata; OCI Generative AI adds Whisper model import.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FEA41B-C2DF-4E56-B549-143D487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1000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C7E416-6342-48F2-9B88-35661E5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623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BE87DB-2482-4C6D-9674-2E380FED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60997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Adjacent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A10406-3463-4443-A2D0-B74E4903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A07A2C-5726-40BF-9B67-583E5EF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D67029-1A58-4DCD-B5AC-3DD81963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Google Cloud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1689CA-D43C-44BF-9FDF-700339A2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5552F1-F83B-44AA-96FD-43F90FAC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9575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3DF84F-453A-44F6-ADAC-DFDD07E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2910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9-15 Jun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EF3569-6D03-45C3-936B-1BC18AB9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C47EC2-D6BE-405E-92BB-29E17474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9575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093EEC-A3D2-427B-BA54-79C3177D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291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No new dated Oracle Database@Google Cloud item found; latest release note remains 27 May.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3B72C5-0FF4-41C6-9126-4439AF6E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55295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B2DE99-4EB6-4E3A-939D-033D2497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3053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46411C-C8E9-4FCA-A091-96BEEF10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35292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B209F4-5291-4A6D-AA08-74BE013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19D8F3-E410-4DF7-9141-172C97B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EE5758-9A55-40EA-A9B6-9C430EF4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82C737-5E9F-43EC-8D54-7F16A21F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CE8DC1-1440-4DDE-9A9D-9A2C2429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3870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5CAF79-7ABD-4B8C-AF6A-62229A9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720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9-15 Jun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7D22D9-B0EF-4EAB-8549-6B5C4A1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959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CE4E4C-8A94-40A9-8D2C-A5DF881F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3870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BE4EA7-EF46-4683-A4C1-12AA261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97205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No new official Oracle Database@Azure item found; availability page still shows 33 live regions.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E3B095-8360-4208-AD3D-7A1B9296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9590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3EFD0C-3FFE-4592-AFC5-1107C7C3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482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22D1659-4614-404C-9EDD-FE526F6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09587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Steady</a:t>
            </a:r>
          </a:p>
        </p:txBody>
      </p:sp>
    </p:spTree>
    <p:extLst>
      <p:ext uri="{BB962C8B-B14F-4D97-AF65-F5344CB8AC3E}">
        <p14:creationId xmlns:p14="http://schemas.microsoft.com/office/powerpoint/2010/main" val="9234675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7BBBF-A2E3-4650-BFAD-E944AEE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C1D22-5005-4CA1-BB91-F8588432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F0E73-1E97-4372-9E4D-BC7EAE05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E26B7-65EB-4854-9B66-9110CF01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Oracle Database@AWS document history and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809E5-85AD-4824-8C11-9390AFA5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CE3B7-C96E-4CF0-8EDC-85EB9910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1BC92-A657-4FDC-9B90-33AD33F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197BD-5567-43F3-A0AE-FACADFF3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048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Autonomous Database Serverless lowers the entry path for Oracle data on AWS.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37786-C6B6-42FD-BA98-C2E674F1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52AE7-525C-467A-BA12-D7F052C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CD412-7D08-4C41-8D0F-95290713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Most serious Oracle Database@AWS designs centered on dedicated Exadata infrastructure and VM cluster planning.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FACA7-4A2F-4D3C-A4A3-22AC3046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9334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52222-C2EE-4F59-880E-C7D8C48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028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B8C0D-5D37-485F-B22B-ED5FFB62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AB5FC-4AF4-49AB-8707-B0382205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DDC96-CFF0-4B53-BC62-F5519541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documentation says Oracle Database@AWS supports Autonomous Database Serverless with create and manage flows and a public AWS Marketplace offer.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21D9B-1861-4226-99A9-CBA20FB9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9334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84D6A-23A8-4852-A96B-88B04C7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2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B5107-E114-496A-8E74-9A4182D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E7C94-E55F-4B59-B4D3-CEDD6BE2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24150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Elastic AI and app workloads can start without provisioning Exadata infrastructure or VM clusters.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44BDF-2246-448B-B5F5-E32450B7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7BAEE-BD0E-4B42-8F32-C5F214A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F3328"/>
                </a:solidFill>
                <a:latin typeface="Aptos"/>
                <a:ea typeface="Aptos"/>
                <a:cs typeface="Aptos"/>
              </a:rPr>
              <a:t>ADB-S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AB4E5-0457-4AE9-8C48-10D7400C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serverless Autonomous Database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94CF9-9A1B-4B8B-9A87-CAB30AA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BF515-1A21-450B-8044-2B415D6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Bedrock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23D07-EF6F-488D-B754-17AF5D2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agent and generative AI adjacency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15C70-551F-4D84-A9B7-5F1579C1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1A44B-901B-46FC-9EF7-CC2A3C76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F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F5B"/>
                </a:solidFill>
                <a:latin typeface="Aptos"/>
                <a:ea typeface="Aptos"/>
                <a:cs typeface="Aptos"/>
              </a:rPr>
              <a:t>Redshift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09A8B1-6542-4130-A216-33F10706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zero-ETL analytics watch pattern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486A5-DEB5-4F84-9F95-76BC7E87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8104D-1F9C-454B-8C32-EEB7CC1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99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9900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9E8AE-56F1-4F48-B39F-85A7391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backup and data integration surface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4988B5-E85E-40E2-B34F-BE7FA291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481C8-13D1-499F-AA60-8501853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626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Best pilot lane: AI-enabled apps that need Oracle transactional integrity with AWS-native model and analytics services.</a:t>
            </a:r>
          </a:p>
        </p:txBody>
      </p:sp>
    </p:spTree>
    <p:extLst>
      <p:ext uri="{BB962C8B-B14F-4D97-AF65-F5344CB8AC3E}">
        <p14:creationId xmlns:p14="http://schemas.microsoft.com/office/powerpoint/2010/main" val="15741037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F20E5-8344-4CC0-8E64-3A2B185E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BDB2-95FC-4459-AFBB-73693DC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02579-A6F1-48AF-ADE1-B1CDAD77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A6BE8-9CA7-4AB6-B9C8-C639AF2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Google Cloud Oracle Database@Google Cloud release 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E1A03-164E-4C2D-8755-56DD05C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74AF8-EDEC-43D8-A4B2-9662AF43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CBBBA-45DA-4C74-9DBF-7E6C0060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GOOGLE CLOUD WATCHLIST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F5097-184D-43B2-84C7-5ADF34D0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95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Google Cloud shows a recent expansion pattern, not a current-week spike.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76C90-B4B2-497F-8AF9-A43D3EEE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9375"/>
            <a:ext cx="939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6102C-C5D1-45FE-9563-E878FE31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F11D3-E689-462A-B369-5740DAB2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B811D-5EE0-4DF9-BF6A-B193E469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20 Apr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D4E41-A257-4961-B27C-6360AF0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18635-04EE-439C-B719-756321D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A049C-48A5-41B3-A87F-D64792E3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Database Center integration 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A9BC0-9BDF-4F0D-98A6-674917E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Fleet insights, alerts, and recommendations for Exadata and Autonomous Database.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E4984-F99D-4ACD-A34F-6AEE717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287E0-D423-43B0-A7BC-F103F156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68F92-EB36-4A8A-AAEB-8EDB96A3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19 May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5D312-338E-495E-B0ED-60891A06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B2543-F589-417A-BC9A-48C3706A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80B2F-006A-4522-97BE-3A5C2EE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Autonomous Data Guard local peers 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0D4BE-C410-43AE-990D-6FDE5DC9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Improves local continuity for Autonomous Database in Google Cloud.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2F99A-DBC7-4147-A384-7B9CBCC0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65024-A2EC-4A7B-ACF4-85ADEBE2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87B8B-A618-4465-9970-AF48FE55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20 May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C19B3-6124-4ECE-A81C-4A27B43F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BF0CB-8AA1-44B7-B539-0E5FECD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293ABF-6635-4103-9DAE-029BD0C5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OCI GoldenGate support GA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8A5AB-A508-44F6-B885-CDA293E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Strengthens migration, replication, and data-product feeds.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D7F404-B6D0-435F-8B9C-1419520E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8476-02B4-49F2-85BF-94D68B3E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09470-9983-4457-9425-413B362A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27 May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BCA7D7-3072-4A1A-8854-F11E11B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849D3-CF46-47F8-A962-EB2A009F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23CA6B-B75E-43D9-B209-1F432C3E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Melbourne and Milan zones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5F7EFC-3854-4547-A742-E66FB3D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Adds placement options for Exascale, Base Database, and GoldenGate.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FE74A0-8DC3-446C-B823-C51C2052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1E981E-38BF-4006-81FD-7D303EB7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03157A-DE98-4DC7-A678-8275AF8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15 Jun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AD9A4F-1E29-4211-BBEF-06CB9AD6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B7710C-7509-4864-8A76-CCB9D81C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359643-CD81-49C1-A990-A0795F4B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Release notes checked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C2BF79-3F97-4479-90B0-476C390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No new dated Oracle Database enhancement inside 9-15 June.</a:t>
            </a:r>
          </a:p>
        </p:txBody>
      </p:sp>
    </p:spTree>
    <p:extLst>
      <p:ext uri="{BB962C8B-B14F-4D97-AF65-F5344CB8AC3E}">
        <p14:creationId xmlns:p14="http://schemas.microsoft.com/office/powerpoint/2010/main" val="15175117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00E93-6A8F-444D-A42F-D6F03F6C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0D27B-07A2-4360-B02B-2B2AF85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BBF90-39F1-49BA-A96E-8E2E7F1C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1090D-6AEB-482D-A1FD-1C5D9B9D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AI Database@Azure docs; Microsoft Foundry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2D63B-BF39-4B00-94D7-3E32DF22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2806F-2606-4DF0-9500-F980302C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3E4A8-F0AF-41E0-AB24-26CE00C6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AZURE PLATFORM 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4513F-15DF-49D6-8672-C6DFBD12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Azure remains a broad landing zone for Oracle AI Database plus Microsoft Foundry.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DF426-4A06-4C06-A8D4-26705E7C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A94DB-4066-42DA-9363-B728D77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B0C34-0379-4179-9C75-7983E3B2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2A1A9-B843-409D-8077-775CE864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AKS, App Service, Functions, VM workloads, and enterprise network controls.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C2139-C946-4BE3-BE4D-62D6F3A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43200"/>
            <a:ext cx="742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94E66-7752-4A3E-95F4-54EEFA9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2381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F645D-61D5-40CE-8BC5-E96059D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F0435-F5DD-4EC9-81EB-EACB733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Delegated subnet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75CE7-11BD-4DF1-9D42-57B8947A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211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docs describe Azure VNet plus delegated subnet for direct, secure, low-latency connectivity.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08C73-4027-47E8-9A45-4F62F0CB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742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7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9879C-6E26-416A-A561-B4107524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381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77DC3-851D-4DE4-A5DA-D7E3F97D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7A3B9-19FD-430C-A33A-47ACEEA0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098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AI Database@Azure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91816-DCA1-4F47-8AFC-4C4D277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211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Exadata Database Service and Autonomous AI Database provisioned from the Azure console.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6772C-07E2-4820-B5CC-A1F4F719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9525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008A1-D453-4F06-8C46-4432B50C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83726-478B-44A1-9825-EDADB492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48E3A-515F-4AFF-ACFF-7AD2AB2B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91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Microsoft Foundry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DFA26-7B23-494B-BAC2-6A2DB42A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149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Agents, model routing, evaluations, monitoring, policies, and enterprise AI operations.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8F436-6D07-48C0-B2F6-5D59B4F0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FBDD6-B980-45CA-A014-85E66A6C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241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51F04-4075-4A51-9171-1D87177C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6700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live Oracle AI Database@Azure regions in official availability page</a:t>
            </a:r>
          </a:p>
        </p:txBody>
      </p:sp>
    </p:spTree>
    <p:extLst>
      <p:ext uri="{BB962C8B-B14F-4D97-AF65-F5344CB8AC3E}">
        <p14:creationId xmlns:p14="http://schemas.microsoft.com/office/powerpoint/2010/main" val="5179092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6A684-2873-475F-9644-1FCE8732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26E6C-13B6-4632-9C5B-7F48E04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0D3B0-6552-4999-99F5-9D3B9BCF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30F9B-7FE6-4FC1-AB08-330F036C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Database@AWS, @Google Cloud, @Azure official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CDF73-69E4-4D85-8136-D7B5803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C3943-A0F5-4A90-972C-2013D50C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7E88F-CF01-4BAA-AAB3-A0E63F98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PLACEMENT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7D043-79CC-45D2-B08E-AE8442E4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The architecture choice is increasingly data-plane plus AI-control-plane 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F5E9A-4C3A-4FB0-9740-B8F8F4BC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00111-F8FE-4190-9FB5-5FC186B5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9521A-E837-4345-8446-28EC0CFA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145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7BD15-4ADD-486E-86AF-143DA173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14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7FDAB-3C6B-4BF3-836B-F3EE715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4790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Application tier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5E0D0-856C-4839-81E4-E024D511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717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EC2/EKS/Lambda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390A5-EDFC-4F25-9FD5-0F7F105F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83E79-80E7-4CAC-9615-19BD316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1455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9E556-E76E-46BF-AF7B-8D43D24D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145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4B791-6B27-4918-9A46-B813C053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02EEE-FF89-44D4-BF47-BBAADCDA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Database@AWS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9DC62-46C1-41A0-A921-D1C68C1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050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98A61-E4D0-45E7-B141-AC8AF78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CA04A-F1B0-4291-9B41-956841F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2E920-9398-4631-A5CD-6FD85224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and analytics plane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193FC-A752-42C9-94EE-0D99D530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Bedrock, Redshift, S3, EventBridge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0DD0F-BE7B-452D-9CA1-F3477E6F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7CD176-763E-409D-B870-66ACD14B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Google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68D7E-7B2B-48F8-9F3F-BE28FD3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194CF-C012-4875-8DC7-2A1F6837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B8AF32-A682-43B8-8276-5CBB2007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Application tier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BB263B-B0CA-44A7-917B-E7A2DC77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957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Cloud Run/GKE/Compute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83284-9209-4153-929A-A93049B5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2902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E1719-201D-478F-8FE4-071E2E0B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17B3B-D0A2-451B-B4A3-71750056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4C370-47F3-4B7C-ADC0-FD815323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7185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 plane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D106D2-11FD-4BDC-997A-5F90B968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Database@Google Cloud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0FB4FB-078A-4919-B8EC-F3A8BBAB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2902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BBA270-F399-42C1-97B5-07D8FF4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28F91B-60B9-497B-82F7-270C28AB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815B93-4AD1-4F7A-9D15-A2A46F3F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and analytics plane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4E9891-DBAC-48CB-9C0A-EC1D39BB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Gemini Enterprise, GoldenGate, Database Center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FC0754-A600-4EDD-AA30-A1FAAB95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95C0CA-9C93-4F46-AB2D-F2A6B3CF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535773-6A52-48AF-8888-2B25C7DB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319719-E311-45F1-A691-082902E1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1DE794-39E5-4CA1-8791-3B51C708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9580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Application tier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176033-0F0B-4803-8755-0A844874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196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AKS/App Service/Functions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12FA0B-15A2-45AB-9150-CF72928E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529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C76CB9-1DEC-4B03-9D67-F3F25BB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0F177B-00E7-4008-BB8F-42C24E8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A45897-6218-49CC-8B1A-4E8ED5A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958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 plane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093186-6C08-47B0-838C-545F5BC1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196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AI Database@Azure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F2AC80-4A9D-4A34-9414-0C7FC3E6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529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B855AB-2718-4367-BABF-8A178DC3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C76BE0-AE1E-40F1-B928-2A425F8B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FFED5D-3B46-4FD2-8BCF-1FEA609A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9580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and analytics plane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80A4E1-E007-4631-9D87-F7B2835D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96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Microsoft Foundry, policy, identity</a:t>
            </a:r>
          </a:p>
        </p:txBody>
      </p:sp>
    </p:spTree>
    <p:extLst>
      <p:ext uri="{BB962C8B-B14F-4D97-AF65-F5344CB8AC3E}">
        <p14:creationId xmlns:p14="http://schemas.microsoft.com/office/powerpoint/2010/main" val="16391276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D94D0-6B97-42AD-99B7-EE2E598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AA7ED-9D23-45C0-92B5-4D995A3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8D9D0-D02A-4D18-9378-7D28063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84B36-0CA2-40E3-935B-7FE112B4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AI Vector Search; Bedrock; Gemini Enterprise; Microsoft Foundry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94AE3-0228-466C-9FE0-C3C2D3D4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6D6C4-E339-4C84-A043-93411C3B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76587-D528-4F38-B4A6-8ED24C6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GOVERNED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27E7B-806A-48D7-947D-7A409A61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Autonomous AI Database can anchor RAG while hyperscaler AI handles reasoning and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4B205-56B8-4906-B705-62DB56A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787BB-F31E-4776-8377-55E70CDC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45F42-3167-4E82-9A05-ADCFDB0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operational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0169D-A9AD-479D-8C9A-F638ABE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82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Transactions, documents, metadata, policies, lineage, and entitlements stay governed in Oracle.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5BB77-1FE4-49B1-BD1C-785C80EE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4E7C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B327E-8878-4ED7-8C22-4E399CA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717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D8171-4530-43DF-8298-6A32A96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71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59629-59CD-4685-97BF-A769B7A0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05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Vector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4078A-CC7E-488D-AE4F-36D0CD85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182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Embeddings stored beside business data; semantic search runs close to the governed records.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F630C-79E1-4D24-8AF6-EFA8F724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0510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C1280-A31D-4D51-9A02-37B30024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81894-9486-44A8-A9CD-B1FE742C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75098-8E31-4652-ACB1-01DA3CFF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Model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2C277-D49A-4094-933B-A3419894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182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Bedrock, Gemini Enterprise, Microsoft Foundry, or OCI Generative AI selected by use case.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21B863-2D9F-4392-A682-00C569F1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1A26E-8A95-4EAA-B685-869C2BB2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717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59359-1BFF-480A-BD0E-879E120C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717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368A6-DDD9-41CD-960A-3DDD8DB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050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Agent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295E7A-7A69-48F3-A0A3-D78A751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2890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Answer, summarize, route, write back, or escalate with controls.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FDA2D-A109-4396-886D-EE3D32D4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206C29-3E1F-48C6-9876-84E792DF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Use Oracle as the governed retrieval and data-quality boundary.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7BEF4B-C8C4-4413-A6CE-A79D6958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577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C40B1-61D4-43D3-86DE-E60C8724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Expose only approved views, APIs, summaries, or vector search results to the model layer.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2505B-5498-48B2-ABDC-9FD71FC8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0DAF5-398E-40FD-9DB4-2779CAE7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Choose the AI platform by domain fit, model governance, latency, cost, and enterprise channel.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8B8D3-1C43-4AB5-A3FA-74EC0677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48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DA02C6-C945-4824-85D3-D12C882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Log prompts, retrieval context, output, and user action for auditability.</a:t>
            </a:r>
          </a:p>
        </p:txBody>
      </p:sp>
    </p:spTree>
    <p:extLst>
      <p:ext uri="{BB962C8B-B14F-4D97-AF65-F5344CB8AC3E}">
        <p14:creationId xmlns:p14="http://schemas.microsoft.com/office/powerpoint/2010/main" val="16608484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00C4E-57EF-4FA8-9DAD-869BEEA0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9CD69-ED75-442B-B1C7-F14CB079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03E0D-7138-40DF-AC0B-E071E8D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1569E-807C-40DD-8089-CAE92489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Architecture ideas synthesized from official service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7B42C-4BBD-4DE6-8296-A563CD96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CEC96-2606-4EF0-9436-0E5B4E1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C431B-77AB-4EF7-BA14-EA0FD66F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ARCHITECTURE MOVES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01AF2-9F40-472F-AFC0-18B5195F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38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Four multicloud moves are ready to evaluate.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FE3C2-A955-45B2-B7AF-3AFE26A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FF28D-F1A3-4BE1-9906-EA19ED1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8F949-65C8-4EAB-99C2-F8D6B0F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AWS operational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35DC4-BA41-4D48-829E-F29CC21F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Use Oracle Database@AWS ADB-S or Exadata with Bedrock agents, Redshift analytics, S3 integration, and CloudWatch/EventBridge operations.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43BC7-5951-4AF3-A571-AC303631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907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F0450-6F3D-4E28-9B38-CA8E507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907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E1999-4E54-42E8-BC30-8E2A6D4F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241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Gemini enterprise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2D459-9422-48AF-A659-EA826999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4795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Ground Gemini Enterprise assistants on governed Oracle data, selected replicated views, GoldenGate feeds, and access-controlled search.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D704E-C23E-4406-AB83-4AB2887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22CBF-F370-47D1-B485-DAC8C003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031C4-B7B4-4E86-BEB0-BB423ED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 regulated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818F2-1CA4-4C80-B4F0-E54AB96B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Pair Oracle AI Database@Azure with Microsoft Foundry agents, model routing, evaluations, policy, identity, and Teams/M365 channels.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D8563-2285-4BEA-88F9-759C1350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100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52DF8-658A-41A4-9EF4-28366238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100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3A026-C48C-4EAD-AF54-3F153C18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433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Cross-cloud governed fabric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AB7F2-363C-4ACE-8E35-8691358D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6720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Keep Oracle as system of record, replicate only selected data products, and route AI work to the best provider by risk and domain.</a:t>
            </a:r>
          </a:p>
        </p:txBody>
      </p:sp>
    </p:spTree>
    <p:extLst>
      <p:ext uri="{BB962C8B-B14F-4D97-AF65-F5344CB8AC3E}">
        <p14:creationId xmlns:p14="http://schemas.microsoft.com/office/powerpoint/2010/main" val="12101141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8DD02-DE12-494C-A653-2CFFD1E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ABF5F-B012-4508-9B9D-192577C3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9091B-9281-4D94-AA39-6C3E6C14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E58D4-E1B1-48F5-B87C-E0671021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OCI release notes; AWS KMS/Data Guard release note; provider service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3CE90-9462-4EC2-AD27-F8508343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60E61-1754-45A4-ACF9-C9323039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EE7C6-2C80-4511-BF55-2C7C2CCF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CONTROLS BEFORE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AE78B-5791-4012-A3DB-8A8ACAA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Governance, security, and DR should be designed before model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2AFA2-1FF1-4C0F-93EE-8B6FB77B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D464A-53E1-4BAB-A9AF-772460D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820AC-C323-49FE-A91A-B491CF68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1FDEC-9A92-4AAE-9800-749C389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F58AA-E504-4AEE-8921-3B474068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Required design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6B83B-00E9-45BB-BA97-B0737221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0985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D0D04-83DC-4CA5-A3F9-C5243BDD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815AF-7B78-488B-88DE-38BC6B98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E38E6-9F2F-4199-9507-E3C1F78F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61E34-631B-4DC7-8441-F7076D73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BDD93-8D32-4AA8-BF0F-8A617117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A351C-E17C-4D4B-8C4C-3D6A3F7F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Key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F3E1A-2572-4ABA-911E-71A1631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08B19-BBA2-4C1C-87E9-66AD73A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8605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71129-20E9-40F2-8A7D-8524EEDC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940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Validate AWS KMS CMK support for Autonomous AI Database on Oracle Database@AWS cross-region Data Guard.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353E6-3A81-46C8-9593-4307F6D5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3BF10-DBCE-43BD-9DFC-8D9EFC0B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06354-E74C-4FE2-92CB-B744F20B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Regulated AWS-resident DR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2F7A1-A65E-4C3E-9774-AE865B6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D0EDF-649A-4186-B0E3-DBBB61B8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33A60-CF10-4639-ADBD-3BB9D07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7A0188-55BD-49F7-8D4B-A75CAE4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Data movement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6A0B8-31ED-4D84-8203-824F48D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747A50-3833-47A1-9F71-C122D249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2EFC4E-2184-419F-969D-C0366073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6235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Classify whether each dataset stays in Oracle, is replicated, summarized, embedded, or exposed through an API.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71539B-BC58-4292-A0A7-3287474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8620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281B7-78A2-4EFC-9D5C-E47BA72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3AC614-7144-433F-AD61-BAFEBE20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Prevents uncontrolled AI data drift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AB62B-989B-4D53-9F68-57C8D41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F51F37-59F4-490F-8127-CBD758A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7F92B8-2B73-4074-8973-72BFDDE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B65174-1EDE-426C-8CD0-2D6FE8E7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495CC8-09D0-46F9-969E-929192AE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6E0AF3-9965-47E6-BFE8-DCB6B46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7195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D43F9D-24C9-47F3-B48C-14B2674A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0530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Keep Oracle database entitlements authoritative; map provider IAM/RBAC to app and tool access.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848E7D-FBA5-4570-9058-280794D5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2915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834F7B-FEBD-4A80-ADD9-B3C4E3CD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58AC77-A1F6-49D5-ADC3-888DC4A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Consistent least privilege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637072-BE47-4401-97BF-FBFA3F74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C5BBD5-E104-4321-99CE-5BDEFAD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2E2BFD-ACA2-4B06-B9CF-8AC478E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8318C1-B218-4CB2-9A82-AD630E89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8850BA-3502-4E39-B816-A4B5C20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112C3A-BBE1-43ED-A593-E33C9A6D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DBA454-36CC-4B5D-9D84-F446D2A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4825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Use provider observability for cloud-side services and Oracle controls for database health, backups, and patching.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377AAB-0BB3-4851-8EED-D6DA08B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7210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4D4EA0-A705-430A-A5CE-660C5C56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3B2A14-9EC9-4162-84E0-792B016B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Clear ownership boundary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F214A5-704C-433F-A884-CACA6542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7210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395C23-FDA7-47CF-AF42-14C92086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25CDB0-D940-48C9-B0F3-38CFC81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600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F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F5B"/>
                </a:solidFill>
                <a:latin typeface="Aptos"/>
                <a:ea typeface="Aptos"/>
                <a:cs typeface="Aptos"/>
              </a:rPr>
              <a:t>Design principle: move models to governed context, not governed data to every model.</a:t>
            </a:r>
          </a:p>
        </p:txBody>
      </p:sp>
    </p:spTree>
    <p:extLst>
      <p:ext uri="{BB962C8B-B14F-4D97-AF65-F5344CB8AC3E}">
        <p14:creationId xmlns:p14="http://schemas.microsoft.com/office/powerpoint/2010/main" val="150798660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271EF4E-BFD8-415C-A7CF-784EAE9DB3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A94ECFA7-4491-4A4A-83E8-F35377F16C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B45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097F903-776A-44C1-A32D-023CF973F92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9525"/>
          </a:xfrm>
          <a:prstGeom prst="rect">
            <a:avLst/>
          </a:prstGeom>
          <a:solidFill>
            <a:srgbClr val="D7D0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E1B1FECE-5841-4CC3-B6E8-6B09EDBA13E9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781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Appendix: grouped clickable official source topics</a:t>
            </a:r>
          </a:p>
        </p:txBody>
      </p:sp>
      <p:sp>
        <p:nvSpPr>
          <p:cNvPr id="5" name="">
            <a:extLst>
              <a:ext uri="{FF2B5EF4-FFF2-40B4-BE49-F238E27FC236}">
                <ns2:creationId id="{5470C1B8-F1AC-47F8-9773-C58BDD65FB71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723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>
              <a:ext uri="{FF2B5EF4-FFF2-40B4-BE49-F238E27FC236}">
                <ns2:creationId id="{D413856F-C748-4FE0-8642-2AFF524D0D2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76200"/>
          </a:xfrm>
          <a:prstGeom prst="rect">
            <a:avLst/>
          </a:prstGeom>
          <a:solidFill>
            <a:srgbClr val="8F3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4C3B02C0-2B5F-467A-B3D8-D42A807B335B}"/>
              </a:ext>
            </a:extLst>
          </p:cNvPr>
          <p:cNvSpPr>
            <a:spLocks noGrp="1"/>
          </p:cNvSpPr>
          <p:nvPr/>
        </p:nvSpPr>
        <p:spPr>
          <a:xfrm>
            <a:off x="781050" y="4953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8" name="">
            <a:extLst>
              <a:ext uri="{FF2B5EF4-FFF2-40B4-BE49-F238E27FC236}">
                <ns2:creationId id="{C40A3320-8845-410A-9438-26DE0ECD51E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8105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Official source topics grouped by cloud.</a:t>
            </a:r>
          </a:p>
        </p:txBody>
      </p:sp>
      <p:sp>
        <p:nvSpPr>
          <p:cNvPr id="9" name="">
            <a:extLst>
              <a:ext uri="{FF2B5EF4-FFF2-40B4-BE49-F238E27FC236}">
                <ns2:creationId id="{6968F578-5E08-41D3-B6CD-6FED9546D9F2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FCF9793A-E5FC-4E6D-B4DF-348E5155A0B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5095875" cy="4762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75576222-CB41-4E76-A39D-E35B0F08AFD6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2" name="">
            <a:extLst>
              <a:ext uri="{FF2B5EF4-FFF2-40B4-BE49-F238E27FC236}">
                <ns2:creationId id="{8C3E774C-7A2B-404D-A5E9-89719FA6E5C7}"/>
              </a:ext>
            </a:extLst>
          </p:cNvPr>
          <p:cNvSpPr>
            <a:spLocks noGrp="1"/>
          </p:cNvSpPr>
          <p:nvPr/>
        </p:nvSpPr>
        <p:spPr>
          <a:xfrm>
            <a:off x="1962150" y="2247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13" name="">
            <a:extLst>
              <a:ext uri="{FF2B5EF4-FFF2-40B4-BE49-F238E27FC236}">
                <ns2:creationId id="{98FE1A6B-0324-498B-B08C-0E0FC6407134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38100" cy="3810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574BAF97-8F37-41F2-9591-77BDE5065626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"/>
              </a:rPr>
              <a:t>Oracle Cloud Infrastructure release notes</a:t>
            </a:r>
          </a:p>
        </p:txBody>
      </p:sp>
      <p:sp>
        <p:nvSpPr>
          <p:cNvPr id="15" name="">
            <a:extLst>
              <a:ext uri="{FF2B5EF4-FFF2-40B4-BE49-F238E27FC236}">
                <ns2:creationId id="{9074E51E-A097-4BF5-9A18-8E74F3FEF3EB}"/>
              </a:ext>
            </a:extLst>
          </p:cNvPr>
          <p:cNvSpPr>
            <a:spLocks noGrp="1"/>
          </p:cNvSpPr>
          <p:nvPr/>
        </p:nvSpPr>
        <p:spPr>
          <a:xfrm>
            <a:off x="800100" y="2886075"/>
            <a:ext cx="38100" cy="3810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D6EB7323-C7CD-48F7-A62C-1DF9BE827558}"/>
              </a:ext>
            </a:extLst>
          </p:cNvPr>
          <p:cNvSpPr>
            <a:spLocks noGrp="1"/>
          </p:cNvSpPr>
          <p:nvPr/>
        </p:nvSpPr>
        <p:spPr>
          <a:xfrm>
            <a:off x="933450" y="2828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2"/>
              </a:rPr>
              <a:t>Oracle AI Vector Search overview</a:t>
            </a:r>
          </a:p>
        </p:txBody>
      </p:sp>
      <p:sp>
        <p:nvSpPr>
          <p:cNvPr id="17" name="">
            <a:extLst>
              <a:ext uri="{FF2B5EF4-FFF2-40B4-BE49-F238E27FC236}">
                <ns2:creationId id="{B565FFCD-CA7A-45E3-848A-F29F152B2486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38100" cy="3810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918519C8-5E48-4541-A188-23569C3EAA79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3"/>
              </a:rPr>
              <a:t>Official Design for Oracle Redwood</a:t>
            </a:r>
          </a:p>
        </p:txBody>
      </p:sp>
      <p:sp>
        <p:nvSpPr>
          <p:cNvPr id="19" name="">
            <a:extLst>
              <a:ext uri="{FF2B5EF4-FFF2-40B4-BE49-F238E27FC236}">
                <ns2:creationId id="{8CB774FC-45C8-4A57-90FC-92A6106CA282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DAE79D89-4FE2-48DC-AF1E-41B0C4C57452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5095875" cy="47625"/>
          </a:xfrm>
          <a:prstGeom prst="rect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0D675B3C-952C-40C8-B578-2DC90B7A6AE2}"/>
              </a:ext>
            </a:extLst>
          </p:cNvPr>
          <p:cNvSpPr>
            <a:spLocks noGrp="1"/>
          </p:cNvSpPr>
          <p:nvPr/>
        </p:nvSpPr>
        <p:spPr>
          <a:xfrm>
            <a:off x="6305550" y="2209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GCP</a:t>
            </a:r>
          </a:p>
        </p:txBody>
      </p:sp>
      <p:sp>
        <p:nvSpPr>
          <p:cNvPr id="22" name="">
            <a:extLst>
              <a:ext uri="{FF2B5EF4-FFF2-40B4-BE49-F238E27FC236}">
                <ns2:creationId id="{46F26E01-CC0D-43F0-A332-4D7C373D7A74}"/>
              </a:ext>
            </a:extLst>
          </p:cNvPr>
          <p:cNvSpPr>
            <a:spLocks noGrp="1"/>
          </p:cNvSpPr>
          <p:nvPr/>
        </p:nvSpPr>
        <p:spPr>
          <a:xfrm>
            <a:off x="7486650" y="2247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23" name="">
            <a:extLst>
              <a:ext uri="{FF2B5EF4-FFF2-40B4-BE49-F238E27FC236}">
                <ns2:creationId id="{E1FD4485-0BAC-44CF-A110-B21E67AAD5A2}"/>
              </a:ext>
            </a:extLst>
          </p:cNvPr>
          <p:cNvSpPr>
            <a:spLocks noGrp="1"/>
          </p:cNvSpPr>
          <p:nvPr/>
        </p:nvSpPr>
        <p:spPr>
          <a:xfrm>
            <a:off x="6324600" y="2667000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5878B52E-DF2B-4644-B99B-5952E08815E7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4"/>
              </a:rPr>
              <a:t>Google Cloud Oracle Database release notes</a:t>
            </a:r>
          </a:p>
        </p:txBody>
      </p:sp>
      <p:sp>
        <p:nvSpPr>
          <p:cNvPr id="25" name="">
            <a:extLst>
              <a:ext uri="{FF2B5EF4-FFF2-40B4-BE49-F238E27FC236}">
                <ns2:creationId id="{066BA38A-7698-49D9-8F02-189824854CD2}"/>
              </a:ext>
            </a:extLst>
          </p:cNvPr>
          <p:cNvSpPr>
            <a:spLocks noGrp="1"/>
          </p:cNvSpPr>
          <p:nvPr/>
        </p:nvSpPr>
        <p:spPr>
          <a:xfrm>
            <a:off x="6324600" y="2886075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D3916FFC-FB92-4913-B949-1AAF671049A8}"/>
              </a:ext>
            </a:extLst>
          </p:cNvPr>
          <p:cNvSpPr>
            <a:spLocks noGrp="1"/>
          </p:cNvSpPr>
          <p:nvPr/>
        </p:nvSpPr>
        <p:spPr>
          <a:xfrm>
            <a:off x="6457950" y="2828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5"/>
              </a:rPr>
              <a:t>Google Cloud Oracle Database docs</a:t>
            </a:r>
          </a:p>
        </p:txBody>
      </p:sp>
      <p:sp>
        <p:nvSpPr>
          <p:cNvPr id="27" name="">
            <a:extLst>
              <a:ext uri="{FF2B5EF4-FFF2-40B4-BE49-F238E27FC236}">
                <ns2:creationId id="{9F9B246D-22BB-41AB-9DF7-1C9AE48C34E5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43280B2F-94B8-45A4-97E1-13B497B9FA6A}"/>
              </a:ext>
            </a:extLst>
          </p:cNvPr>
          <p:cNvSpPr>
            <a:spLocks noGrp="1"/>
          </p:cNvSpPr>
          <p:nvPr/>
        </p:nvSpPr>
        <p:spPr>
          <a:xfrm>
            <a:off x="6457950" y="3048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6"/>
              </a:rPr>
              <a:t>Google Cloud Gemini Enterprise docs</a:t>
            </a:r>
          </a:p>
        </p:txBody>
      </p:sp>
      <p:sp>
        <p:nvSpPr>
          <p:cNvPr id="29" name="">
            <a:extLst>
              <a:ext uri="{FF2B5EF4-FFF2-40B4-BE49-F238E27FC236}">
                <ns2:creationId id="{7676BCB7-0FF9-4403-A749-36D2015F58BD}"/>
              </a:ext>
            </a:extLst>
          </p:cNvPr>
          <p:cNvSpPr>
            <a:spLocks noGrp="1"/>
          </p:cNvSpPr>
          <p:nvPr/>
        </p:nvSpPr>
        <p:spPr>
          <a:xfrm>
            <a:off x="6324600" y="3324225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0C9CD7D0-7BBD-4349-980F-13E22BA64BE8}"/>
              </a:ext>
            </a:extLst>
          </p:cNvPr>
          <p:cNvSpPr>
            <a:spLocks noGrp="1"/>
          </p:cNvSpPr>
          <p:nvPr/>
        </p:nvSpPr>
        <p:spPr>
          <a:xfrm>
            <a:off x="6457950" y="326707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7"/>
              </a:rPr>
              <a:t>Oracle Database@Google Cloud</a:t>
            </a:r>
          </a:p>
        </p:txBody>
      </p:sp>
      <p:sp>
        <p:nvSpPr>
          <p:cNvPr id="31" name="">
            <a:extLst>
              <a:ext uri="{FF2B5EF4-FFF2-40B4-BE49-F238E27FC236}">
                <ns2:creationId id="{3A5EB019-0C71-4185-B49E-26A8CBC69AB3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9EB77581-2DF7-4DE3-855C-352E3D4D93B8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5095875" cy="47625"/>
          </a:xfrm>
          <a:prstGeom prst="rect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780350B1-32D4-45E3-82BE-4966A2A27C3F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34" name="">
            <a:extLst>
              <a:ext uri="{FF2B5EF4-FFF2-40B4-BE49-F238E27FC236}">
                <ns2:creationId id="{010B6BCC-117F-4253-88F9-91775ACB5559}"/>
              </a:ext>
            </a:extLst>
          </p:cNvPr>
          <p:cNvSpPr>
            <a:spLocks noGrp="1"/>
          </p:cNvSpPr>
          <p:nvPr/>
        </p:nvSpPr>
        <p:spPr>
          <a:xfrm>
            <a:off x="1962150" y="4152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35" name="">
            <a:extLst>
              <a:ext uri="{FF2B5EF4-FFF2-40B4-BE49-F238E27FC236}">
                <ns2:creationId id="{F17DB3C9-B752-42B2-9417-56D58C5C4A92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1F1A2D00-504E-4F38-BE93-5984D5601D22}"/>
              </a:ext>
            </a:extLst>
          </p:cNvPr>
          <p:cNvSpPr>
            <a:spLocks noGrp="1"/>
          </p:cNvSpPr>
          <p:nvPr/>
        </p:nvSpPr>
        <p:spPr>
          <a:xfrm>
            <a:off x="933450" y="4514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8"/>
              </a:rPr>
              <a:t>AWS Oracle Database@AWS document history</a:t>
            </a:r>
          </a:p>
        </p:txBody>
      </p:sp>
      <p:sp>
        <p:nvSpPr>
          <p:cNvPr id="37" name="">
            <a:extLst>
              <a:ext uri="{FF2B5EF4-FFF2-40B4-BE49-F238E27FC236}">
                <ns2:creationId id="{D2C9D9A3-BC83-4DF8-8CB6-CB0C054ABEAC}"/>
              </a:ext>
            </a:extLst>
          </p:cNvPr>
          <p:cNvSpPr>
            <a:spLocks noGrp="1"/>
          </p:cNvSpPr>
          <p:nvPr/>
        </p:nvSpPr>
        <p:spPr>
          <a:xfrm>
            <a:off x="800100" y="4791075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BF008616-C210-48B2-BD29-300854496A5D}"/>
              </a:ext>
            </a:extLst>
          </p:cNvPr>
          <p:cNvSpPr>
            <a:spLocks noGrp="1"/>
          </p:cNvSpPr>
          <p:nvPr/>
        </p:nvSpPr>
        <p:spPr>
          <a:xfrm>
            <a:off x="933450" y="4733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9"/>
              </a:rPr>
              <a:t>AWS Oracle Database@AWS overview</a:t>
            </a:r>
          </a:p>
        </p:txBody>
      </p:sp>
      <p:sp>
        <p:nvSpPr>
          <p:cNvPr id="39" name="">
            <a:extLst>
              <a:ext uri="{FF2B5EF4-FFF2-40B4-BE49-F238E27FC236}">
                <ns2:creationId id="{DC6355E9-44B5-4DA5-A43D-90E5E7A7E690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FF1A49E7-7D0E-42AD-BCA5-F03518758698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0"/>
              </a:rPr>
              <a:t>AWS Oracle Database@AWS how it works</a:t>
            </a:r>
          </a:p>
        </p:txBody>
      </p:sp>
      <p:sp>
        <p:nvSpPr>
          <p:cNvPr id="41" name="">
            <a:extLst>
              <a:ext uri="{FF2B5EF4-FFF2-40B4-BE49-F238E27FC236}">
                <ns2:creationId id="{FC1ED18E-1088-4009-99A0-D8B82DEE8C97}"/>
              </a:ext>
            </a:extLst>
          </p:cNvPr>
          <p:cNvSpPr>
            <a:spLocks noGrp="1"/>
          </p:cNvSpPr>
          <p:nvPr/>
        </p:nvSpPr>
        <p:spPr>
          <a:xfrm>
            <a:off x="800100" y="5229225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F4F90B2D-4CF2-41BE-BE37-5586EC76165F}"/>
              </a:ext>
            </a:extLst>
          </p:cNvPr>
          <p:cNvSpPr>
            <a:spLocks noGrp="1"/>
          </p:cNvSpPr>
          <p:nvPr/>
        </p:nvSpPr>
        <p:spPr>
          <a:xfrm>
            <a:off x="933450" y="517207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1"/>
              </a:rPr>
              <a:t>AWS Amazon Bedrock User Guide</a:t>
            </a:r>
          </a:p>
        </p:txBody>
      </p:sp>
      <p:sp>
        <p:nvSpPr>
          <p:cNvPr id="43" name="">
            <a:extLst>
              <a:ext uri="{FF2B5EF4-FFF2-40B4-BE49-F238E27FC236}">
                <ns2:creationId id="{CDF09807-ED7C-4564-BA2B-44F7E35997AD}"/>
              </a:ext>
            </a:extLst>
          </p:cNvPr>
          <p:cNvSpPr>
            <a:spLocks noGrp="1"/>
          </p:cNvSpPr>
          <p:nvPr/>
        </p:nvSpPr>
        <p:spPr>
          <a:xfrm>
            <a:off x="800100" y="5448300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66DAEF9D-024C-4B67-B7ED-BE8DA691E045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2"/>
              </a:rPr>
              <a:t>Oracle AI Database@AWS</a:t>
            </a:r>
          </a:p>
        </p:txBody>
      </p:sp>
      <p:sp>
        <p:nvSpPr>
          <p:cNvPr id="45" name="">
            <a:extLst>
              <a:ext uri="{FF2B5EF4-FFF2-40B4-BE49-F238E27FC236}">
                <ns2:creationId id="{3EC530D0-0ED5-484F-A81C-60FF7225501A}"/>
              </a:ext>
            </a:extLst>
          </p:cNvPr>
          <p:cNvSpPr>
            <a:spLocks noGrp="1"/>
          </p:cNvSpPr>
          <p:nvPr/>
        </p:nvSpPr>
        <p:spPr>
          <a:xfrm>
            <a:off x="6134100" y="3943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BC925783-477F-4EB8-B234-5E064BA3F31C}"/>
              </a:ext>
            </a:extLst>
          </p:cNvPr>
          <p:cNvSpPr>
            <a:spLocks noGrp="1"/>
          </p:cNvSpPr>
          <p:nvPr/>
        </p:nvSpPr>
        <p:spPr>
          <a:xfrm>
            <a:off x="6134100" y="3943350"/>
            <a:ext cx="5095875" cy="47625"/>
          </a:xfrm>
          <a:prstGeom prst="rect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45F87E30-9D77-47F8-94D2-35534D8AE411}"/>
              </a:ext>
            </a:extLst>
          </p:cNvPr>
          <p:cNvSpPr>
            <a:spLocks noGrp="1"/>
          </p:cNvSpPr>
          <p:nvPr/>
        </p:nvSpPr>
        <p:spPr>
          <a:xfrm>
            <a:off x="6305550" y="4114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48" name="">
            <a:extLst>
              <a:ext uri="{FF2B5EF4-FFF2-40B4-BE49-F238E27FC236}">
                <ns2:creationId id="{512BEECC-588F-4161-B23A-DFDBFBDDEBA7}"/>
              </a:ext>
            </a:extLst>
          </p:cNvPr>
          <p:cNvSpPr>
            <a:spLocks noGrp="1"/>
          </p:cNvSpPr>
          <p:nvPr/>
        </p:nvSpPr>
        <p:spPr>
          <a:xfrm>
            <a:off x="7486650" y="4152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49" name="">
            <a:extLst>
              <a:ext uri="{FF2B5EF4-FFF2-40B4-BE49-F238E27FC236}">
                <ns2:creationId id="{2694F60F-E5AA-4F51-B2D5-20A233DA0B2E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38100" cy="38100"/>
          </a:xfrm>
          <a:prstGeom prst="ellipse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>
              <a:ext uri="{FF2B5EF4-FFF2-40B4-BE49-F238E27FC236}">
                <ns2:creationId id="{6B261A28-9E48-446D-A66A-444207B59AAC}"/>
              </a:ext>
            </a:extLst>
          </p:cNvPr>
          <p:cNvSpPr>
            <a:spLocks noGrp="1"/>
          </p:cNvSpPr>
          <p:nvPr/>
        </p:nvSpPr>
        <p:spPr>
          <a:xfrm>
            <a:off x="6457950" y="4514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3"/>
              </a:rPr>
              <a:t>Oracle AI Database@Azure overview</a:t>
            </a:r>
          </a:p>
        </p:txBody>
      </p:sp>
      <p:sp>
        <p:nvSpPr>
          <p:cNvPr id="51" name="">
            <a:extLst>
              <a:ext uri="{FF2B5EF4-FFF2-40B4-BE49-F238E27FC236}">
                <ns2:creationId id="{B268387F-7F3C-42A8-A90B-C7042723B208}"/>
              </a:ext>
            </a:extLst>
          </p:cNvPr>
          <p:cNvSpPr>
            <a:spLocks noGrp="1"/>
          </p:cNvSpPr>
          <p:nvPr/>
        </p:nvSpPr>
        <p:spPr>
          <a:xfrm>
            <a:off x="6324600" y="4791075"/>
            <a:ext cx="38100" cy="38100"/>
          </a:xfrm>
          <a:prstGeom prst="ellipse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>
              <a:ext uri="{FF2B5EF4-FFF2-40B4-BE49-F238E27FC236}">
                <ns2:creationId id="{FFA2DED1-DFD0-4268-BAD3-6B48B1215564}"/>
              </a:ext>
            </a:extLst>
          </p:cNvPr>
          <p:cNvSpPr>
            <a:spLocks noGrp="1"/>
          </p:cNvSpPr>
          <p:nvPr/>
        </p:nvSpPr>
        <p:spPr>
          <a:xfrm>
            <a:off x="6457950" y="4733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4"/>
              </a:rPr>
              <a:t>Oracle AI Database@Azure regional availability</a:t>
            </a:r>
          </a:p>
        </p:txBody>
      </p:sp>
      <p:sp>
        <p:nvSpPr>
          <p:cNvPr id="53" name="">
            <a:extLst>
              <a:ext uri="{FF2B5EF4-FFF2-40B4-BE49-F238E27FC236}">
                <ns2:creationId id="{FF51740F-2B77-4664-A4A4-28CDE54E6C36}"/>
              </a:ext>
            </a:extLst>
          </p:cNvPr>
          <p:cNvSpPr>
            <a:spLocks noGrp="1"/>
          </p:cNvSpPr>
          <p:nvPr/>
        </p:nvSpPr>
        <p:spPr>
          <a:xfrm>
            <a:off x="6324600" y="5010150"/>
            <a:ext cx="38100" cy="38100"/>
          </a:xfrm>
          <a:prstGeom prst="ellipse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>
              <a:ext uri="{FF2B5EF4-FFF2-40B4-BE49-F238E27FC236}">
                <ns2:creationId id="{931EDD8A-5659-4608-8C6A-AF608D2C8763}"/>
              </a:ext>
            </a:extLst>
          </p:cNvPr>
          <p:cNvSpPr>
            <a:spLocks noGrp="1"/>
          </p:cNvSpPr>
          <p:nvPr/>
        </p:nvSpPr>
        <p:spPr>
          <a:xfrm>
            <a:off x="6457950" y="4953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5"/>
              </a:rPr>
              <a:t>Microsoft Foundry overview</a:t>
            </a:r>
          </a:p>
        </p:txBody>
      </p:sp>
    </p:spTree>
    <p:extLst>
      <p:ext uri="{BB962C8B-B14F-4D97-AF65-F5344CB8AC3E}">
        <ns4:creationId val="626368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2026-06-15T01:49:43.3500000Z</dcterms:created>
  <dcterms:modified xsi:type="dcterms:W3CDTF">2026-06-15T01:49:43.3500000Z</dcterms:modified>
</coreProperties>
</file>